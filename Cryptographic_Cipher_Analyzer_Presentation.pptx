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[~35s] Good morning everyone. My name is ___ (introduce yourself). Today I am presenting my project, the Cryptographic Cipher Analyzer — a command-line application written in Python 3. In one sentence: it can encrypt and decrypt messages with the Caesar and Vigenère ciphers, and then turn around and break those same ciphers automatically using classical cryptanalysis. The three numbers on this slide summarise the project: 163 automated unit tests, nine command-line commands, and a strict educational-only scope. Over the next eight to ten minutes I will show the system design, walk through every feature with real screenshots, and finish with the test results and conclusions.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[~25s] Here is the plan for the talk. First, the objectives — what problem the tool solves and for whom. Second, the system design: the technology stack, the layered architecture and how a request flows from input to report. Third, the two ciphers in action, including the interactive menu. Fourth — the heart of the project — four cryptanalysis attacks, ending with the full recovery of a Vigenère key. Then file operations and report generation, the security analysis module, and the automated test suite. I will close with results, limitations and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[~40s] So what exactly is this project? It is a cryptanalysis laboratory in the terminal. You can feed it plaintext and get ciphertext back, or feed it ciphertext and recover the plaintext without ever knowing the key. Four things make it more than a toy. First, every stage of the attack is automated — brute force for Caesar, statistics for Vigenère. Second, it has two complete interfaces: a guided menu for beginners and nine scriptable CLI commands. Third, every analysis can be saved as a timestamped report, which is what the screenshot shows. And fourth, it is honest: it never pretends these ciphers are secure — every run prints an educational disclaimer. The second screenshot shows the built-in command reference.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[~35s] The technology choices were deliberately simple. The whole tool is Python 3, standard library only — no third-party runtime dependencies — so it runs on any machine with Python installed. The code is organised into five packages: ciphers holds the two encryption algorithms, analysis holds the four cryptanalysis engines, file_operations handles disk I/O, utils provides validation, text handling and reporting, and tests contains the 163 unit tests. The screenshots show the verified Python version, the top-level folder structure and the package contents. This structure was a conscious decision: it keeps presentation, logic and testing in separate layers, as the next slide shows.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 Here is the architecture in four layers. At the top, user interaction: main.py with argparse for the CLI, and banner.py driving the interactive menu. Below that, the operations layer: encryption, the four analyses, file operations and reports. The core engines live in their own modules — caesar.py, vigenere.py, caesar_cracker.py and vigenere_analyzer.py. At the bottom, shared services: validators, text utilities and the report generator. Why does this matter? main.py only presents results — no cryptography lives there. Each analysis module can be tested in isolation, and the 163 tests map directly onto these module boundaries. Bad input can never reach the engines because validators run first.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[~35s] This slide shows what happens on every single command, in five steps. Input arrives typed, from a file, or as CLI flags. Validation normalises it — shifts must be integers, keys must be letters, text must not be empty. Then processing: a cipher engine or an analysis engine runs. Presentation formats the result as tables and ranked candidates. Finally, optionally, a timestamped report is written. The highlights at the bottom are the engineering guarantees: invalid input never crashes the program, source files are never modified without explicit overwrite confirmation, and end-of-input exits the menu cleanly. The same pipeline serves both the menu and the CLI.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[~40s] Starting with the simplest cipher. The Caesar cipher shifts every letter by a fixed amount modulo 26 — HELLO WORLD becomes KHOOR ZRUOG with shift three. The right screenshots show the real CLI run: the command, the shift used and the output. Decryption is simply the inverse shift. Note the design details: case is preserved, digits and punctuation pass through untouched, and negative or oversized shifts are normalised. The crucial number is the keyspace: only 25 effective keys, because shift zero changes nothing. That is exactly the weakness the cracking demo will exploit a few slides from now. This cipher takes seconds to implement — and seconds to break.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[~40s] The Vigenère cipher fixes Caesar's obvious flaw. Instead of one shift, a repeating keyword applies a different shift to every letter — here the classic textbook example: ATTACKATDAWN with key LEMON produces LXFOPVEFRNHR. The key letter at each position selects which Caesar alphabet is used. This flattens the letter frequencies that make Caesar trivial to break — which is why it was called the indecipherable cipher for three centuries. But it introduces a new weakness: the keyword repeats, and whenever it realigns with the text, patterns appear in the ciphertext. That repetition is exactly what the Kasiski examination will detect later. The screenshots show encryption and decryption through the CLI.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 For demonstrations and users who prefer guidance, there is a full interactive mode. Running python main.py with no arguments opens this menu with nine options. Every prompt validates its input and re-asks on mistakes, so the program cannot be crashed by typing something wrong. Submenus let you choose between typing text or reading it from a file, and after every analysis the tool offers to save a report. The screenshot shows the banner, the main menu, and a guided Caesar session. This is also the mode I would use for a live demo — everything the CLI does is reachable from the menu.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[~40s] Now the cryptanalysis. Attack one: frequency analysis. The idea is that natural language is statistically uneven — in English, E, T and A dominate. The tool counts every letter, shows percentages, and — the useful part — compares the observed frequencies against the standard English table, sorted by difference. In the screenshot, the ciphertext peaks on H, K, O and R — exactly E, T, A and O shifted by three. One glance reveals the shift. Beyond diagnosis, the same counting logic powers a chi-square fitness score that later ranks candidate plaintexts, plus a digram scorer for common letter pairs. Frequency analysis is the foundation everything else builds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 Attack two is where it gets satisfying: automatic Caesar cracking. The command takes ciphertext only — no key. The tool tries all 26 shifts and scores each result with a chi-square statistic against English letter frequencies, combined with a digram score. In the demo, the input is a 1,287-character ciphertext from the sample data folder. The ranked table shows the result: shift three scored 70.52 while the runner-up scored only 22.94 — a decisive margin. Below the table, the BEST CANDIDATE panel prints the fully recovered plaintext. Notice the honesty note at the bottom of the terminal output: the ranking is statistical, and short or unusual texts can mislead it. The tool tells you that on screen.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[~40s] Attack three: the Index of Coincidence. It is a single number measuring how unevenly letters are distributed — the probability that two random letters from the text are identical. English prose sits around 0.0667; random text around 0.0385. The demo screenshot shows a Vigenère ciphertext scoring 0.0435 — clearly in the polyalphabetic range, confirming that naive frequency analysis will not work directly. The real power is the second table: the average IC computed per assumed key length. When the assumed length matches the true key length, every column behaves like English and the IC spikes — here it peaks at 5, 10 and 15, immediately suggesting a key length of five.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[~40s] Attack four confirms that guess independently: Kasiski examination, published in 1863. The observation: in a repeating-key cipher, a repeated ciphertext fragment means the key realigned with the plaintext at that point — so the distance between the two repeats must be a multiple of the key length. The tool finds all repeated sequences of length three to five, computes their distances and factorises them. In the demo, fragments repeat at distances 500 and 395, whose common factors are 5, 10, 20 and 25. The evidence table ranks key lengths by accumulated factor hits — length five leads. Important nuance: Kasiski produces candidates, not proof. That is why the tool always pairs it with the IC evidence.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 Now the full pipeline, combining all three techniques. Step one, estimation: Kasiski evidence and the per-length IC agree on key length five, with a combined score of 0.948. Step two: split the ciphertext into five columns — each column is now a monoalphabetic Caesar shift, so column IC rises to English levels. Step three: per-column frequency analysis suggests the most likely letter for each key position — L, E, M, O, N, each with a fitness score around 50 to 58, far above the runners-up. Step four: the tool assembles candidate keys, decrypts with each, and ranks them by English-likeness. LEMON comes first — highlighted in green — and the best-guess panel shows the recovered plaintext.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[~35s] Beyond single strings, the tool operates on whole files. The file-caesar and file-vigenere commands encrypt or decrypt an entire text file. Safety was the priority: the output defaults to a new file with an underscore-out suffix, and the original is never modified unless you explicitly pass the overwrite flag — interactively, the tool asks for confirmation first. The screenshots show a real encryption run with file statistics, and the decryption round trip, which reproduces the original exactly. This is also covered by dedicated unit tests: the round trip for both ciphers, and proof that an invalid key leaves the output file untouched.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 Every analysis can be persisted. Adding the report flag — or answering yes in the interactive mode — writes a timestamped text file under the reports folder. The report is complete: input statistics, all result tables, the cryptanalysis method notes, the security assessment and the educational disclaimer. The screenshots show the save confirmation and the actual contents of a generated report. This turned out to be genuinely useful during development: reports from test runs became the evidence log for the project documentation, and they give the examiner a reproducible record of every demo shown today.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[~40s] The security module turns the tool's knowledge into explicit teaching content. For each cipher it profiles the keyspace, strengths, weaknesses and known attacks. Caesar: rated very weak — 25 effective keys, broken in milliseconds by brute force, destroyed by frequency analysis. Vigenère: rated weak — it resisted cryptanalysis for three centuries, but Kasiski's 1863 examination broke it. The module closes with the disclaimer printed on every run: educational use only, never protect real data. I want to stress the panel at the bottom left: broken ciphers are worth teaching precisely because every attack step can be performed and understood by hand — that understanding is what motivates modern cryptography.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[~35s] Quality was verified, not assumed. The project has 163 unit tests, all passing in about six tenths of a second — fast enough to run on every change. The screenshot shows the verbose unittest run. Coverage spans four areas, summarised in the chips below: the cipher engines — round trips for every shift and multiple keys, case and punctuation preservation, alphabet wrap-around; the cryptanalysis engines — known IC values, Kasiski distances and factorisation, and crucially a test that the analyser recovers a real key; the CLI — every subcommand, the report flag, error handling and interactive flows; and file operations — round trips, overwrite protection and report structure. Tests were written alongside each module, not retrofitted.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[~40s] To conclude. The project achieves what it set out to do: a complete, tested, documented cryptanalysis tool with two ciphers and four automated attacks — demonstrated today by recovering the key LEMON from real ciphertext and cracking a Caesar cipher with a decisive statistical margin. The limitations are honestly stated: these ciphers are inherently insecure, statistical attacks need sufficient text, and the scoring is English-only. Future work includes a graphical interface, more cipher families such as substitution and transposition, multilingual frequency tables, and simulated known-plaintext attacks. The closing message is the point of the whole project: understanding why classical ciphers fail is the first step towards understanding why modern encryption works.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[~15s] Thank you for listening. If there is time, I would be glad to run a live demo — cracking a Caesar cipher or recovering a Vigenère key takes only seconds. I am happy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6803136"/>
            <a:ext cx="3044952" cy="38100"/>
          </a:xfrm>
          <a:prstGeom prst="rect">
            <a:avLst/>
          </a:prstGeom>
          <a:solidFill>
            <a:srgbClr val="1E8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923" y="6803136"/>
            <a:ext cx="3044952" cy="38100"/>
          </a:xfrm>
          <a:prstGeom prst="rect">
            <a:avLst/>
          </a:prstGeom>
          <a:solidFill>
            <a:srgbClr val="1E8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6803136"/>
            <a:ext cx="3044952" cy="38100"/>
          </a:xfrm>
          <a:prstGeom prst="rect">
            <a:avLst/>
          </a:prstGeom>
          <a:solidFill>
            <a:srgbClr val="1E8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771" y="6803136"/>
            <a:ext cx="3044952" cy="38100"/>
          </a:xfrm>
          <a:prstGeom prst="rect">
            <a:avLst/>
          </a:prstGeom>
          <a:solidFill>
            <a:srgbClr val="1E8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1417320"/>
            <a:ext cx="128016" cy="3611880"/>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1481328"/>
            <a:ext cx="10241280" cy="365760"/>
          </a:xfrm>
          <a:prstGeom prst="rect">
            <a:avLst/>
          </a:prstGeom>
          <a:noFill/>
        </p:spPr>
        <p:txBody>
          <a:bodyPr wrap="square" anchor="t" lIns="0" rIns="0" tIns="0" bIns="0">
            <a:spAutoFit/>
          </a:bodyPr>
          <a:lstStyle/>
          <a:p>
            <a:pPr algn="l"/>
            <a:r>
              <a:rPr sz="1300" b="1">
                <a:solidFill>
                  <a:srgbClr val="3EB8F0"/>
                </a:solidFill>
                <a:latin typeface="Segoe UI"/>
              </a:rPr>
              <a:t>CRYPTOGRAPHY  ·  PYTHON 3  ·  CLI APPLICATION  ·  EDUCATIONAL</a:t>
            </a:r>
          </a:p>
        </p:txBody>
      </p:sp>
      <p:sp>
        <p:nvSpPr>
          <p:cNvPr id="8" name="TextBox 7"/>
          <p:cNvSpPr txBox="1"/>
          <p:nvPr/>
        </p:nvSpPr>
        <p:spPr>
          <a:xfrm>
            <a:off x="1143000" y="1920240"/>
            <a:ext cx="10424160" cy="1737360"/>
          </a:xfrm>
          <a:prstGeom prst="rect">
            <a:avLst/>
          </a:prstGeom>
          <a:noFill/>
        </p:spPr>
        <p:txBody>
          <a:bodyPr wrap="square" anchor="t" lIns="0" rIns="0" tIns="0" bIns="0">
            <a:spAutoFit/>
          </a:bodyPr>
          <a:lstStyle/>
          <a:p>
            <a:pPr algn="l"/>
            <a:r>
              <a:rPr sz="4400" b="1">
                <a:solidFill>
                  <a:srgbClr val="F5F7FA"/>
                </a:solidFill>
                <a:latin typeface="Segoe UI"/>
              </a:rPr>
              <a:t>Cryptographic Cipher Analyzer</a:t>
            </a:r>
          </a:p>
          <a:p>
            <a:pPr algn="l">
              <a:spcBef>
                <a:spcPts val="800"/>
              </a:spcBef>
            </a:pPr>
            <a:r>
              <a:rPr sz="2400" b="0">
                <a:solidFill>
                  <a:srgbClr val="9AB4CC"/>
                </a:solidFill>
                <a:latin typeface="Segoe UI"/>
              </a:rPr>
              <a:t>Caesar &amp; Vigenère Cryptanalysis Tool</a:t>
            </a:r>
          </a:p>
        </p:txBody>
      </p:sp>
      <p:sp>
        <p:nvSpPr>
          <p:cNvPr id="9" name="TextBox 8"/>
          <p:cNvSpPr txBox="1"/>
          <p:nvPr/>
        </p:nvSpPr>
        <p:spPr>
          <a:xfrm>
            <a:off x="1143000" y="3840480"/>
            <a:ext cx="10424160" cy="1097280"/>
          </a:xfrm>
          <a:prstGeom prst="rect">
            <a:avLst/>
          </a:prstGeom>
          <a:noFill/>
        </p:spPr>
        <p:txBody>
          <a:bodyPr wrap="square" anchor="t" lIns="0" rIns="0" tIns="0" bIns="0">
            <a:spAutoFit/>
          </a:bodyPr>
          <a:lstStyle/>
          <a:p>
            <a:pPr algn="l"/>
            <a:r>
              <a:rPr sz="1600" b="1">
                <a:solidFill>
                  <a:srgbClr val="39D353"/>
                </a:solidFill>
                <a:latin typeface="Consolas"/>
              </a:rPr>
              <a:t>Encrypt · Decrypt · Analyze · Break</a:t>
            </a:r>
          </a:p>
          <a:p>
            <a:pPr algn="l">
              <a:spcBef>
                <a:spcPts val="800"/>
              </a:spcBef>
            </a:pPr>
            <a:r>
              <a:rPr sz="1400" b="0">
                <a:solidFill>
                  <a:srgbClr val="9AB4CC"/>
                </a:solidFill>
                <a:latin typeface="Segoe UI"/>
              </a:rPr>
              <a:t>Frequency analysis  ·  Index of Coincidence  ·  Kasiski examination</a:t>
            </a:r>
          </a:p>
        </p:txBody>
      </p:sp>
      <p:sp>
        <p:nvSpPr>
          <p:cNvPr id="10" name="Rectangle 9"/>
          <p:cNvSpPr/>
          <p:nvPr/>
        </p:nvSpPr>
        <p:spPr>
          <a:xfrm>
            <a:off x="1143000" y="5074920"/>
            <a:ext cx="1691640" cy="868680"/>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5184648"/>
            <a:ext cx="1691640" cy="384048"/>
          </a:xfrm>
          <a:prstGeom prst="rect">
            <a:avLst/>
          </a:prstGeom>
          <a:noFill/>
        </p:spPr>
        <p:txBody>
          <a:bodyPr wrap="square" anchor="t" lIns="0" rIns="0" tIns="0" bIns="0">
            <a:spAutoFit/>
          </a:bodyPr>
          <a:lstStyle/>
          <a:p>
            <a:pPr algn="ctr"/>
            <a:r>
              <a:rPr sz="2200" b="1">
                <a:solidFill>
                  <a:srgbClr val="3EB8F0"/>
                </a:solidFill>
                <a:latin typeface="Segoe UI"/>
              </a:rPr>
              <a:t>163</a:t>
            </a:r>
          </a:p>
        </p:txBody>
      </p:sp>
      <p:sp>
        <p:nvSpPr>
          <p:cNvPr id="12" name="TextBox 11"/>
          <p:cNvSpPr txBox="1"/>
          <p:nvPr/>
        </p:nvSpPr>
        <p:spPr>
          <a:xfrm>
            <a:off x="1143000" y="5586984"/>
            <a:ext cx="1691640" cy="292608"/>
          </a:xfrm>
          <a:prstGeom prst="rect">
            <a:avLst/>
          </a:prstGeom>
          <a:noFill/>
        </p:spPr>
        <p:txBody>
          <a:bodyPr wrap="square" anchor="t" lIns="0" rIns="0" tIns="0" bIns="0">
            <a:spAutoFit/>
          </a:bodyPr>
          <a:lstStyle/>
          <a:p>
            <a:pPr algn="ctr"/>
            <a:r>
              <a:rPr sz="1100" b="0">
                <a:solidFill>
                  <a:srgbClr val="9AB4CC"/>
                </a:solidFill>
                <a:latin typeface="Segoe UI"/>
              </a:rPr>
              <a:t>unit tests</a:t>
            </a:r>
          </a:p>
        </p:txBody>
      </p:sp>
      <p:sp>
        <p:nvSpPr>
          <p:cNvPr id="13" name="Rectangle 12"/>
          <p:cNvSpPr/>
          <p:nvPr/>
        </p:nvSpPr>
        <p:spPr>
          <a:xfrm>
            <a:off x="3063240" y="5074920"/>
            <a:ext cx="1691640" cy="868680"/>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63240" y="5184648"/>
            <a:ext cx="1691640" cy="384048"/>
          </a:xfrm>
          <a:prstGeom prst="rect">
            <a:avLst/>
          </a:prstGeom>
          <a:noFill/>
        </p:spPr>
        <p:txBody>
          <a:bodyPr wrap="square" anchor="t" lIns="0" rIns="0" tIns="0" bIns="0">
            <a:spAutoFit/>
          </a:bodyPr>
          <a:lstStyle/>
          <a:p>
            <a:pPr algn="ctr"/>
            <a:r>
              <a:rPr sz="2200" b="1">
                <a:solidFill>
                  <a:srgbClr val="3EB8F0"/>
                </a:solidFill>
                <a:latin typeface="Segoe UI"/>
              </a:rPr>
              <a:t>9</a:t>
            </a:r>
          </a:p>
        </p:txBody>
      </p:sp>
      <p:sp>
        <p:nvSpPr>
          <p:cNvPr id="15" name="TextBox 14"/>
          <p:cNvSpPr txBox="1"/>
          <p:nvPr/>
        </p:nvSpPr>
        <p:spPr>
          <a:xfrm>
            <a:off x="3063240" y="5586984"/>
            <a:ext cx="1691640" cy="292608"/>
          </a:xfrm>
          <a:prstGeom prst="rect">
            <a:avLst/>
          </a:prstGeom>
          <a:noFill/>
        </p:spPr>
        <p:txBody>
          <a:bodyPr wrap="square" anchor="t" lIns="0" rIns="0" tIns="0" bIns="0">
            <a:spAutoFit/>
          </a:bodyPr>
          <a:lstStyle/>
          <a:p>
            <a:pPr algn="ctr"/>
            <a:r>
              <a:rPr sz="1100" b="0">
                <a:solidFill>
                  <a:srgbClr val="9AB4CC"/>
                </a:solidFill>
                <a:latin typeface="Segoe UI"/>
              </a:rPr>
              <a:t>CLI commands</a:t>
            </a:r>
          </a:p>
        </p:txBody>
      </p:sp>
      <p:sp>
        <p:nvSpPr>
          <p:cNvPr id="16" name="Rectangle 15"/>
          <p:cNvSpPr/>
          <p:nvPr/>
        </p:nvSpPr>
        <p:spPr>
          <a:xfrm>
            <a:off x="4983480" y="5074920"/>
            <a:ext cx="1691640" cy="868680"/>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83480" y="5184648"/>
            <a:ext cx="1691640" cy="384048"/>
          </a:xfrm>
          <a:prstGeom prst="rect">
            <a:avLst/>
          </a:prstGeom>
          <a:noFill/>
        </p:spPr>
        <p:txBody>
          <a:bodyPr wrap="square" anchor="t" lIns="0" rIns="0" tIns="0" bIns="0">
            <a:spAutoFit/>
          </a:bodyPr>
          <a:lstStyle/>
          <a:p>
            <a:pPr algn="ctr"/>
            <a:r>
              <a:rPr sz="2200" b="1">
                <a:solidFill>
                  <a:srgbClr val="3EB8F0"/>
                </a:solidFill>
                <a:latin typeface="Segoe UI"/>
              </a:rPr>
              <a:t>100%</a:t>
            </a:r>
          </a:p>
        </p:txBody>
      </p:sp>
      <p:sp>
        <p:nvSpPr>
          <p:cNvPr id="18" name="TextBox 17"/>
          <p:cNvSpPr txBox="1"/>
          <p:nvPr/>
        </p:nvSpPr>
        <p:spPr>
          <a:xfrm>
            <a:off x="4983480" y="5586984"/>
            <a:ext cx="1691640" cy="292608"/>
          </a:xfrm>
          <a:prstGeom prst="rect">
            <a:avLst/>
          </a:prstGeom>
          <a:noFill/>
        </p:spPr>
        <p:txBody>
          <a:bodyPr wrap="square" anchor="t" lIns="0" rIns="0" tIns="0" bIns="0">
            <a:spAutoFit/>
          </a:bodyPr>
          <a:lstStyle/>
          <a:p>
            <a:pPr algn="ctr"/>
            <a:r>
              <a:rPr sz="1100" b="0">
                <a:solidFill>
                  <a:srgbClr val="9AB4CC"/>
                </a:solidFill>
                <a:latin typeface="Segoe UI"/>
              </a:rPr>
              <a:t>passing</a:t>
            </a:r>
          </a:p>
        </p:txBody>
      </p:sp>
      <p:sp>
        <p:nvSpPr>
          <p:cNvPr id="19" name="TextBox 18"/>
          <p:cNvSpPr txBox="1"/>
          <p:nvPr/>
        </p:nvSpPr>
        <p:spPr>
          <a:xfrm>
            <a:off x="1143000" y="6263640"/>
            <a:ext cx="10058400" cy="365760"/>
          </a:xfrm>
          <a:prstGeom prst="rect">
            <a:avLst/>
          </a:prstGeom>
          <a:noFill/>
        </p:spPr>
        <p:txBody>
          <a:bodyPr wrap="square" anchor="t" lIns="0" rIns="0" tIns="0" bIns="0">
            <a:spAutoFit/>
          </a:bodyPr>
          <a:lstStyle/>
          <a:p>
            <a:pPr algn="l"/>
            <a:r>
              <a:rPr sz="1300" b="0">
                <a:solidFill>
                  <a:srgbClr val="9AB4CC"/>
                </a:solidFill>
                <a:latin typeface="Segoe UI"/>
              </a:rPr>
              <a:t>Project viva presentation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1750"/>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8686800" cy="274320"/>
          </a:xfrm>
          <a:prstGeom prst="rect">
            <a:avLst/>
          </a:prstGeom>
          <a:noFill/>
        </p:spPr>
        <p:txBody>
          <a:bodyPr wrap="square" anchor="t" lIns="0" rIns="0" tIns="0" bIns="0">
            <a:spAutoFit/>
          </a:bodyPr>
          <a:lstStyle/>
          <a:p>
            <a:pPr algn="l"/>
            <a:r>
              <a:rPr sz="1100" b="1">
                <a:solidFill>
                  <a:srgbClr val="3EB8F0"/>
                </a:solidFill>
                <a:latin typeface="Segoe UI"/>
              </a:rPr>
              <a:t>ROADMAP</a:t>
            </a:r>
          </a:p>
        </p:txBody>
      </p:sp>
      <p:sp>
        <p:nvSpPr>
          <p:cNvPr id="5" name="TextBox 4"/>
          <p:cNvSpPr txBox="1"/>
          <p:nvPr/>
        </p:nvSpPr>
        <p:spPr>
          <a:xfrm>
            <a:off x="502920" y="347472"/>
            <a:ext cx="10515600" cy="548640"/>
          </a:xfrm>
          <a:prstGeom prst="rect">
            <a:avLst/>
          </a:prstGeom>
          <a:noFill/>
        </p:spPr>
        <p:txBody>
          <a:bodyPr wrap="square" anchor="t" lIns="0" rIns="0" tIns="0" bIns="0">
            <a:spAutoFit/>
          </a:bodyPr>
          <a:lstStyle/>
          <a:p>
            <a:pPr algn="l"/>
            <a:r>
              <a:rPr sz="2600" b="1">
                <a:solidFill>
                  <a:srgbClr val="F5F7FA"/>
                </a:solidFill>
                <a:latin typeface="Segoe UI"/>
              </a:rPr>
              <a:t>Agenda</a:t>
            </a:r>
          </a:p>
        </p:txBody>
      </p:sp>
      <p:sp>
        <p:nvSpPr>
          <p:cNvPr id="6" name="Rectangle 5"/>
          <p:cNvSpPr/>
          <p:nvPr/>
        </p:nvSpPr>
        <p:spPr>
          <a:xfrm>
            <a:off x="11338560" y="274320"/>
            <a:ext cx="502920" cy="411480"/>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301752"/>
            <a:ext cx="502920" cy="365760"/>
          </a:xfrm>
          <a:prstGeom prst="rect">
            <a:avLst/>
          </a:prstGeom>
          <a:noFill/>
        </p:spPr>
        <p:txBody>
          <a:bodyPr wrap="square" anchor="t" lIns="0" rIns="0" tIns="0" bIns="0">
            <a:spAutoFit/>
          </a:bodyPr>
          <a:lstStyle/>
          <a:p>
            <a:pPr algn="ctr"/>
            <a:r>
              <a:rPr sz="1200" b="1">
                <a:solidFill>
                  <a:srgbClr val="3EB8F0"/>
                </a:solidFill>
                <a:latin typeface="Consolas"/>
              </a:rPr>
              <a:t>02</a:t>
            </a:r>
          </a:p>
        </p:txBody>
      </p:sp>
      <p:sp>
        <p:nvSpPr>
          <p:cNvPr id="8" name="Rectangle 7"/>
          <p:cNvSpPr/>
          <p:nvPr/>
        </p:nvSpPr>
        <p:spPr>
          <a:xfrm>
            <a:off x="502920" y="1325880"/>
            <a:ext cx="11155680" cy="621792"/>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325880"/>
            <a:ext cx="73152" cy="621792"/>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90472"/>
            <a:ext cx="4937760" cy="365760"/>
          </a:xfrm>
          <a:prstGeom prst="rect">
            <a:avLst/>
          </a:prstGeom>
          <a:noFill/>
        </p:spPr>
        <p:txBody>
          <a:bodyPr wrap="square" anchor="t" lIns="0" rIns="0" tIns="0" bIns="0">
            <a:spAutoFit/>
          </a:bodyPr>
          <a:lstStyle/>
          <a:p>
            <a:pPr algn="l"/>
            <a:r>
              <a:rPr sz="1500" b="1">
                <a:solidFill>
                  <a:srgbClr val="F5F7FA"/>
                </a:solidFill>
                <a:latin typeface="Segoe UI"/>
              </a:rPr>
              <a:t>01   Introduction &amp; Objectives</a:t>
            </a:r>
          </a:p>
        </p:txBody>
      </p:sp>
      <p:sp>
        <p:nvSpPr>
          <p:cNvPr id="11" name="TextBox 10"/>
          <p:cNvSpPr txBox="1"/>
          <p:nvPr/>
        </p:nvSpPr>
        <p:spPr>
          <a:xfrm>
            <a:off x="5852160" y="1508760"/>
            <a:ext cx="5669280" cy="365760"/>
          </a:xfrm>
          <a:prstGeom prst="rect">
            <a:avLst/>
          </a:prstGeom>
          <a:noFill/>
        </p:spPr>
        <p:txBody>
          <a:bodyPr wrap="square" anchor="t" lIns="0" rIns="0" tIns="0" bIns="0">
            <a:spAutoFit/>
          </a:bodyPr>
          <a:lstStyle/>
          <a:p>
            <a:pPr algn="l"/>
            <a:r>
              <a:rPr sz="1200" b="0">
                <a:solidFill>
                  <a:srgbClr val="9AB4CC"/>
                </a:solidFill>
                <a:latin typeface="Segoe UI"/>
              </a:rPr>
              <a:t>What the tool is, why it exists, technology stack</a:t>
            </a:r>
          </a:p>
        </p:txBody>
      </p:sp>
      <p:sp>
        <p:nvSpPr>
          <p:cNvPr id="12" name="Rectangle 11"/>
          <p:cNvSpPr/>
          <p:nvPr/>
        </p:nvSpPr>
        <p:spPr>
          <a:xfrm>
            <a:off x="502920" y="2048256"/>
            <a:ext cx="11155680" cy="621792"/>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2048256"/>
            <a:ext cx="73152" cy="621792"/>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12848"/>
            <a:ext cx="4937760" cy="365760"/>
          </a:xfrm>
          <a:prstGeom prst="rect">
            <a:avLst/>
          </a:prstGeom>
          <a:noFill/>
        </p:spPr>
        <p:txBody>
          <a:bodyPr wrap="square" anchor="t" lIns="0" rIns="0" tIns="0" bIns="0">
            <a:spAutoFit/>
          </a:bodyPr>
          <a:lstStyle/>
          <a:p>
            <a:pPr algn="l"/>
            <a:r>
              <a:rPr sz="1500" b="1">
                <a:solidFill>
                  <a:srgbClr val="F5F7FA"/>
                </a:solidFill>
                <a:latin typeface="Segoe UI"/>
              </a:rPr>
              <a:t>02   System Design</a:t>
            </a:r>
          </a:p>
        </p:txBody>
      </p:sp>
      <p:sp>
        <p:nvSpPr>
          <p:cNvPr id="15" name="TextBox 14"/>
          <p:cNvSpPr txBox="1"/>
          <p:nvPr/>
        </p:nvSpPr>
        <p:spPr>
          <a:xfrm>
            <a:off x="5852160" y="2231136"/>
            <a:ext cx="5669280" cy="365760"/>
          </a:xfrm>
          <a:prstGeom prst="rect">
            <a:avLst/>
          </a:prstGeom>
          <a:noFill/>
        </p:spPr>
        <p:txBody>
          <a:bodyPr wrap="square" anchor="t" lIns="0" rIns="0" tIns="0" bIns="0">
            <a:spAutoFit/>
          </a:bodyPr>
          <a:lstStyle/>
          <a:p>
            <a:pPr algn="l"/>
            <a:r>
              <a:rPr sz="1200" b="0">
                <a:solidFill>
                  <a:srgbClr val="9AB4CC"/>
                </a:solidFill>
                <a:latin typeface="Segoe UI"/>
              </a:rPr>
              <a:t>Layered architecture and the request data flow</a:t>
            </a:r>
          </a:p>
        </p:txBody>
      </p:sp>
      <p:sp>
        <p:nvSpPr>
          <p:cNvPr id="16" name="Rectangle 15"/>
          <p:cNvSpPr/>
          <p:nvPr/>
        </p:nvSpPr>
        <p:spPr>
          <a:xfrm>
            <a:off x="502920" y="2770632"/>
            <a:ext cx="11155680" cy="621792"/>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70632"/>
            <a:ext cx="73152" cy="621792"/>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935224"/>
            <a:ext cx="4937760" cy="365760"/>
          </a:xfrm>
          <a:prstGeom prst="rect">
            <a:avLst/>
          </a:prstGeom>
          <a:noFill/>
        </p:spPr>
        <p:txBody>
          <a:bodyPr wrap="square" anchor="t" lIns="0" rIns="0" tIns="0" bIns="0">
            <a:spAutoFit/>
          </a:bodyPr>
          <a:lstStyle/>
          <a:p>
            <a:pPr algn="l"/>
            <a:r>
              <a:rPr sz="1500" b="1">
                <a:solidFill>
                  <a:srgbClr val="F5F7FA"/>
                </a:solidFill>
                <a:latin typeface="Segoe UI"/>
              </a:rPr>
              <a:t>03   Ciphers in Action</a:t>
            </a:r>
          </a:p>
        </p:txBody>
      </p:sp>
      <p:sp>
        <p:nvSpPr>
          <p:cNvPr id="19" name="TextBox 18"/>
          <p:cNvSpPr txBox="1"/>
          <p:nvPr/>
        </p:nvSpPr>
        <p:spPr>
          <a:xfrm>
            <a:off x="5852160" y="2953512"/>
            <a:ext cx="5669280" cy="365760"/>
          </a:xfrm>
          <a:prstGeom prst="rect">
            <a:avLst/>
          </a:prstGeom>
          <a:noFill/>
        </p:spPr>
        <p:txBody>
          <a:bodyPr wrap="square" anchor="t" lIns="0" rIns="0" tIns="0" bIns="0">
            <a:spAutoFit/>
          </a:bodyPr>
          <a:lstStyle/>
          <a:p>
            <a:pPr algn="l"/>
            <a:r>
              <a:rPr sz="1200" b="0">
                <a:solidFill>
                  <a:srgbClr val="9AB4CC"/>
                </a:solidFill>
                <a:latin typeface="Segoe UI"/>
              </a:rPr>
              <a:t>Caesar &amp; Vigenère: CLI demos + interactive menu</a:t>
            </a:r>
          </a:p>
        </p:txBody>
      </p:sp>
      <p:sp>
        <p:nvSpPr>
          <p:cNvPr id="20" name="Rectangle 19"/>
          <p:cNvSpPr/>
          <p:nvPr/>
        </p:nvSpPr>
        <p:spPr>
          <a:xfrm>
            <a:off x="502920" y="3493008"/>
            <a:ext cx="11155680" cy="621792"/>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3493008"/>
            <a:ext cx="73152" cy="621792"/>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657600"/>
            <a:ext cx="4937760" cy="365760"/>
          </a:xfrm>
          <a:prstGeom prst="rect">
            <a:avLst/>
          </a:prstGeom>
          <a:noFill/>
        </p:spPr>
        <p:txBody>
          <a:bodyPr wrap="square" anchor="t" lIns="0" rIns="0" tIns="0" bIns="0">
            <a:spAutoFit/>
          </a:bodyPr>
          <a:lstStyle/>
          <a:p>
            <a:pPr algn="l"/>
            <a:r>
              <a:rPr sz="1500" b="1">
                <a:solidFill>
                  <a:srgbClr val="F5F7FA"/>
                </a:solidFill>
                <a:latin typeface="Segoe UI"/>
              </a:rPr>
              <a:t>04   Cryptanalysis Engine</a:t>
            </a:r>
          </a:p>
        </p:txBody>
      </p:sp>
      <p:sp>
        <p:nvSpPr>
          <p:cNvPr id="23" name="TextBox 22"/>
          <p:cNvSpPr txBox="1"/>
          <p:nvPr/>
        </p:nvSpPr>
        <p:spPr>
          <a:xfrm>
            <a:off x="5852160" y="3675888"/>
            <a:ext cx="5669280" cy="365760"/>
          </a:xfrm>
          <a:prstGeom prst="rect">
            <a:avLst/>
          </a:prstGeom>
          <a:noFill/>
        </p:spPr>
        <p:txBody>
          <a:bodyPr wrap="square" anchor="t" lIns="0" rIns="0" tIns="0" bIns="0">
            <a:spAutoFit/>
          </a:bodyPr>
          <a:lstStyle/>
          <a:p>
            <a:pPr algn="l"/>
            <a:r>
              <a:rPr sz="1200" b="0">
                <a:solidFill>
                  <a:srgbClr val="9AB4CC"/>
                </a:solidFill>
                <a:latin typeface="Segoe UI"/>
              </a:rPr>
              <a:t>Frequency · IC · Kasiski · full key recovery</a:t>
            </a:r>
          </a:p>
        </p:txBody>
      </p:sp>
      <p:sp>
        <p:nvSpPr>
          <p:cNvPr id="24" name="Rectangle 23"/>
          <p:cNvSpPr/>
          <p:nvPr/>
        </p:nvSpPr>
        <p:spPr>
          <a:xfrm>
            <a:off x="502920" y="4215384"/>
            <a:ext cx="11155680" cy="621792"/>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4215384"/>
            <a:ext cx="73152" cy="621792"/>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379976"/>
            <a:ext cx="4937760" cy="365760"/>
          </a:xfrm>
          <a:prstGeom prst="rect">
            <a:avLst/>
          </a:prstGeom>
          <a:noFill/>
        </p:spPr>
        <p:txBody>
          <a:bodyPr wrap="square" anchor="t" lIns="0" rIns="0" tIns="0" bIns="0">
            <a:spAutoFit/>
          </a:bodyPr>
          <a:lstStyle/>
          <a:p>
            <a:pPr algn="l"/>
            <a:r>
              <a:rPr sz="1500" b="1">
                <a:solidFill>
                  <a:srgbClr val="F5F7FA"/>
                </a:solidFill>
                <a:latin typeface="Segoe UI"/>
              </a:rPr>
              <a:t>05   Files &amp; Reports</a:t>
            </a:r>
          </a:p>
        </p:txBody>
      </p:sp>
      <p:sp>
        <p:nvSpPr>
          <p:cNvPr id="27" name="TextBox 26"/>
          <p:cNvSpPr txBox="1"/>
          <p:nvPr/>
        </p:nvSpPr>
        <p:spPr>
          <a:xfrm>
            <a:off x="5852160" y="4398264"/>
            <a:ext cx="5669280" cy="365760"/>
          </a:xfrm>
          <a:prstGeom prst="rect">
            <a:avLst/>
          </a:prstGeom>
          <a:noFill/>
        </p:spPr>
        <p:txBody>
          <a:bodyPr wrap="square" anchor="t" lIns="0" rIns="0" tIns="0" bIns="0">
            <a:spAutoFit/>
          </a:bodyPr>
          <a:lstStyle/>
          <a:p>
            <a:pPr algn="l"/>
            <a:r>
              <a:rPr sz="1200" b="0">
                <a:solidFill>
                  <a:srgbClr val="9AB4CC"/>
                </a:solidFill>
                <a:latin typeface="Segoe UI"/>
              </a:rPr>
              <a:t>Whole-file encryption and timestamped reports</a:t>
            </a:r>
          </a:p>
        </p:txBody>
      </p:sp>
      <p:sp>
        <p:nvSpPr>
          <p:cNvPr id="28" name="Rectangle 27"/>
          <p:cNvSpPr/>
          <p:nvPr/>
        </p:nvSpPr>
        <p:spPr>
          <a:xfrm>
            <a:off x="502920" y="4937760"/>
            <a:ext cx="11155680" cy="621792"/>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4937760"/>
            <a:ext cx="73152" cy="621792"/>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5102352"/>
            <a:ext cx="4937760" cy="365760"/>
          </a:xfrm>
          <a:prstGeom prst="rect">
            <a:avLst/>
          </a:prstGeom>
          <a:noFill/>
        </p:spPr>
        <p:txBody>
          <a:bodyPr wrap="square" anchor="t" lIns="0" rIns="0" tIns="0" bIns="0">
            <a:spAutoFit/>
          </a:bodyPr>
          <a:lstStyle/>
          <a:p>
            <a:pPr algn="l"/>
            <a:r>
              <a:rPr sz="1500" b="1">
                <a:solidFill>
                  <a:srgbClr val="F5F7FA"/>
                </a:solidFill>
                <a:latin typeface="Segoe UI"/>
              </a:rPr>
              <a:t>06   Security &amp; Testing</a:t>
            </a:r>
          </a:p>
        </p:txBody>
      </p:sp>
      <p:sp>
        <p:nvSpPr>
          <p:cNvPr id="31" name="TextBox 30"/>
          <p:cNvSpPr txBox="1"/>
          <p:nvPr/>
        </p:nvSpPr>
        <p:spPr>
          <a:xfrm>
            <a:off x="5852160" y="5120640"/>
            <a:ext cx="5669280" cy="365760"/>
          </a:xfrm>
          <a:prstGeom prst="rect">
            <a:avLst/>
          </a:prstGeom>
          <a:noFill/>
        </p:spPr>
        <p:txBody>
          <a:bodyPr wrap="square" anchor="t" lIns="0" rIns="0" tIns="0" bIns="0">
            <a:spAutoFit/>
          </a:bodyPr>
          <a:lstStyle/>
          <a:p>
            <a:pPr algn="l"/>
            <a:r>
              <a:rPr sz="1200" b="0">
                <a:solidFill>
                  <a:srgbClr val="9AB4CC"/>
                </a:solidFill>
                <a:latin typeface="Segoe UI"/>
              </a:rPr>
              <a:t>Honest security verdicts and 163 unit tests</a:t>
            </a:r>
          </a:p>
        </p:txBody>
      </p:sp>
      <p:sp>
        <p:nvSpPr>
          <p:cNvPr id="32" name="Rectangle 31"/>
          <p:cNvSpPr/>
          <p:nvPr/>
        </p:nvSpPr>
        <p:spPr>
          <a:xfrm>
            <a:off x="502920" y="5660136"/>
            <a:ext cx="11155680" cy="621792"/>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 y="5660136"/>
            <a:ext cx="73152" cy="621792"/>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824728"/>
            <a:ext cx="4937760" cy="365760"/>
          </a:xfrm>
          <a:prstGeom prst="rect">
            <a:avLst/>
          </a:prstGeom>
          <a:noFill/>
        </p:spPr>
        <p:txBody>
          <a:bodyPr wrap="square" anchor="t" lIns="0" rIns="0" tIns="0" bIns="0">
            <a:spAutoFit/>
          </a:bodyPr>
          <a:lstStyle/>
          <a:p>
            <a:pPr algn="l"/>
            <a:r>
              <a:rPr sz="1500" b="1">
                <a:solidFill>
                  <a:srgbClr val="F5F7FA"/>
                </a:solidFill>
                <a:latin typeface="Segoe UI"/>
              </a:rPr>
              <a:t>07   Conclusion</a:t>
            </a:r>
          </a:p>
        </p:txBody>
      </p:sp>
      <p:sp>
        <p:nvSpPr>
          <p:cNvPr id="35" name="TextBox 34"/>
          <p:cNvSpPr txBox="1"/>
          <p:nvPr/>
        </p:nvSpPr>
        <p:spPr>
          <a:xfrm>
            <a:off x="5852160" y="5843016"/>
            <a:ext cx="5669280" cy="365760"/>
          </a:xfrm>
          <a:prstGeom prst="rect">
            <a:avLst/>
          </a:prstGeom>
          <a:noFill/>
        </p:spPr>
        <p:txBody>
          <a:bodyPr wrap="square" anchor="t" lIns="0" rIns="0" tIns="0" bIns="0">
            <a:spAutoFit/>
          </a:bodyPr>
          <a:lstStyle/>
          <a:p>
            <a:pPr algn="l"/>
            <a:r>
              <a:rPr sz="1200" b="0">
                <a:solidFill>
                  <a:srgbClr val="9AB4CC"/>
                </a:solidFill>
                <a:latin typeface="Segoe UI"/>
              </a:rPr>
              <a:t>Results, limitations and future work</a:t>
            </a:r>
          </a:p>
        </p:txBody>
      </p:sp>
      <p:sp>
        <p:nvSpPr>
          <p:cNvPr id="36" name="TextBox 35"/>
          <p:cNvSpPr txBox="1"/>
          <p:nvPr/>
        </p:nvSpPr>
        <p:spPr>
          <a:xfrm>
            <a:off x="502920" y="6492240"/>
            <a:ext cx="10515600" cy="274320"/>
          </a:xfrm>
          <a:prstGeom prst="rect">
            <a:avLst/>
          </a:prstGeom>
          <a:noFill/>
        </p:spPr>
        <p:txBody>
          <a:bodyPr wrap="square" anchor="t" lIns="0" rIns="0" tIns="0" bIns="0">
            <a:spAutoFit/>
          </a:bodyPr>
          <a:lstStyle/>
          <a:p>
            <a:pPr algn="l"/>
            <a:r>
              <a:rPr sz="900" b="0">
                <a:solidFill>
                  <a:srgbClr val="9AB4CC"/>
                </a:solidFill>
                <a:latin typeface="Segoe UI"/>
              </a:rPr>
              <a:t>Target talk time: 8–12 minutes across 20 slides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1750"/>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8686800" cy="274320"/>
          </a:xfrm>
          <a:prstGeom prst="rect">
            <a:avLst/>
          </a:prstGeom>
          <a:noFill/>
        </p:spPr>
        <p:txBody>
          <a:bodyPr wrap="square" anchor="t" lIns="0" rIns="0" tIns="0" bIns="0">
            <a:spAutoFit/>
          </a:bodyPr>
          <a:lstStyle/>
          <a:p>
            <a:pPr algn="l"/>
            <a:r>
              <a:rPr sz="1100" b="1">
                <a:solidFill>
                  <a:srgbClr val="3EB8F0"/>
                </a:solidFill>
                <a:latin typeface="Segoe UI"/>
              </a:rPr>
              <a:t>01 · INTRODUCTION</a:t>
            </a:r>
          </a:p>
        </p:txBody>
      </p:sp>
      <p:sp>
        <p:nvSpPr>
          <p:cNvPr id="5" name="TextBox 4"/>
          <p:cNvSpPr txBox="1"/>
          <p:nvPr/>
        </p:nvSpPr>
        <p:spPr>
          <a:xfrm>
            <a:off x="502920" y="347472"/>
            <a:ext cx="10515600" cy="548640"/>
          </a:xfrm>
          <a:prstGeom prst="rect">
            <a:avLst/>
          </a:prstGeom>
          <a:noFill/>
        </p:spPr>
        <p:txBody>
          <a:bodyPr wrap="square" anchor="t" lIns="0" rIns="0" tIns="0" bIns="0">
            <a:spAutoFit/>
          </a:bodyPr>
          <a:lstStyle/>
          <a:p>
            <a:pPr algn="l"/>
            <a:r>
              <a:rPr sz="2600" b="1">
                <a:solidFill>
                  <a:srgbClr val="F5F7FA"/>
                </a:solidFill>
                <a:latin typeface="Segoe UI"/>
              </a:rPr>
              <a:t>Project Overview &amp; Objectives</a:t>
            </a:r>
          </a:p>
        </p:txBody>
      </p:sp>
      <p:sp>
        <p:nvSpPr>
          <p:cNvPr id="6" name="Rectangle 5"/>
          <p:cNvSpPr/>
          <p:nvPr/>
        </p:nvSpPr>
        <p:spPr>
          <a:xfrm>
            <a:off x="11338560" y="274320"/>
            <a:ext cx="502920" cy="411480"/>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301752"/>
            <a:ext cx="502920" cy="365760"/>
          </a:xfrm>
          <a:prstGeom prst="rect">
            <a:avLst/>
          </a:prstGeom>
          <a:noFill/>
        </p:spPr>
        <p:txBody>
          <a:bodyPr wrap="square" anchor="t" lIns="0" rIns="0" tIns="0" bIns="0">
            <a:spAutoFit/>
          </a:bodyPr>
          <a:lstStyle/>
          <a:p>
            <a:pPr algn="ctr"/>
            <a:r>
              <a:rPr sz="1200" b="1">
                <a:solidFill>
                  <a:srgbClr val="3EB8F0"/>
                </a:solidFill>
                <a:latin typeface="Consolas"/>
              </a:rPr>
              <a:t>03</a:t>
            </a:r>
          </a:p>
        </p:txBody>
      </p:sp>
      <p:sp>
        <p:nvSpPr>
          <p:cNvPr id="8" name="TextBox 7"/>
          <p:cNvSpPr txBox="1"/>
          <p:nvPr/>
        </p:nvSpPr>
        <p:spPr>
          <a:xfrm>
            <a:off x="502920" y="1325880"/>
            <a:ext cx="5989320" cy="4572000"/>
          </a:xfrm>
          <a:prstGeom prst="rect">
            <a:avLst/>
          </a:prstGeom>
          <a:noFill/>
        </p:spPr>
        <p:txBody>
          <a:bodyPr wrap="square" lIns="0" rIns="0" tIns="0" bIns="0">
            <a:spAutoFit/>
          </a:bodyPr>
          <a:lstStyle/>
          <a:p>
            <a:pPr algn="l">
              <a:spcAft>
                <a:spcPts val="1300"/>
              </a:spcAft>
            </a:pPr>
            <a:r>
              <a:rPr sz="1400">
                <a:solidFill>
                  <a:srgbClr val="3EB8F0"/>
                </a:solidFill>
                <a:latin typeface="Segoe UI"/>
              </a:rPr>
              <a:t>•  </a:t>
            </a:r>
            <a:r>
              <a:rPr sz="1400" b="1">
                <a:solidFill>
                  <a:srgbClr val="F5F7FA"/>
                </a:solidFill>
                <a:latin typeface="Segoe UI"/>
              </a:rPr>
              <a:t>Command-line cryptanalysis laboratory. </a:t>
            </a:r>
            <a:r>
              <a:rPr sz="1400">
                <a:solidFill>
                  <a:srgbClr val="F5F7FA"/>
                </a:solidFill>
                <a:latin typeface="Segoe UI"/>
              </a:rPr>
              <a:t>A Python 3 CLI that encrypts, decrypts and breaks classical ciphers — Caesar and Vigenère.</a:t>
            </a:r>
          </a:p>
          <a:p>
            <a:pPr algn="l">
              <a:spcAft>
                <a:spcPts val="1300"/>
              </a:spcAft>
            </a:pPr>
            <a:r>
              <a:rPr sz="1400">
                <a:solidFill>
                  <a:srgbClr val="3EB8F0"/>
                </a:solidFill>
                <a:latin typeface="Segoe UI"/>
              </a:rPr>
              <a:t>•  </a:t>
            </a:r>
            <a:r>
              <a:rPr sz="1400" b="1">
                <a:solidFill>
                  <a:srgbClr val="F5F7FA"/>
                </a:solidFill>
                <a:latin typeface="Segoe UI"/>
              </a:rPr>
              <a:t>Every attack stage is automated. </a:t>
            </a:r>
            <a:r>
              <a:rPr sz="1400">
                <a:solidFill>
                  <a:srgbClr val="F5F7FA"/>
                </a:solidFill>
                <a:latin typeface="Segoe UI"/>
              </a:rPr>
              <a:t>Brute-force Caesar cracking, statistical key-length estimation, per-column Vigenère key recovery.</a:t>
            </a:r>
          </a:p>
          <a:p>
            <a:pPr algn="l">
              <a:spcAft>
                <a:spcPts val="1300"/>
              </a:spcAft>
            </a:pPr>
            <a:r>
              <a:rPr sz="1400">
                <a:solidFill>
                  <a:srgbClr val="3EB8F0"/>
                </a:solidFill>
                <a:latin typeface="Segoe UI"/>
              </a:rPr>
              <a:t>•  </a:t>
            </a:r>
            <a:r>
              <a:rPr sz="1400" b="1">
                <a:solidFill>
                  <a:srgbClr val="F5F7FA"/>
                </a:solidFill>
                <a:latin typeface="Segoe UI"/>
              </a:rPr>
              <a:t>Two complete interfaces. </a:t>
            </a:r>
            <a:r>
              <a:rPr sz="1400">
                <a:solidFill>
                  <a:srgbClr val="F5F7FA"/>
                </a:solidFill>
                <a:latin typeface="Segoe UI"/>
              </a:rPr>
              <a:t>Menu-driven interactive mode plus nine scriptable CLI subcommands.</a:t>
            </a:r>
          </a:p>
          <a:p>
            <a:pPr algn="l">
              <a:spcAft>
                <a:spcPts val="1300"/>
              </a:spcAft>
            </a:pPr>
            <a:r>
              <a:rPr sz="1400">
                <a:solidFill>
                  <a:srgbClr val="3EB8F0"/>
                </a:solidFill>
                <a:latin typeface="Segoe UI"/>
              </a:rPr>
              <a:t>•  </a:t>
            </a:r>
            <a:r>
              <a:rPr sz="1400" b="1">
                <a:solidFill>
                  <a:srgbClr val="F5F7FA"/>
                </a:solidFill>
                <a:latin typeface="Segoe UI"/>
              </a:rPr>
              <a:t>Evidence trail built in. </a:t>
            </a:r>
            <a:r>
              <a:rPr sz="1400">
                <a:solidFill>
                  <a:srgbClr val="F5F7FA"/>
                </a:solidFill>
                <a:latin typeface="Segoe UI"/>
              </a:rPr>
              <a:t>Every analysis can be saved as a timestamped text report under reports/.</a:t>
            </a:r>
          </a:p>
          <a:p>
            <a:pPr algn="l">
              <a:spcAft>
                <a:spcPts val="1300"/>
              </a:spcAft>
            </a:pPr>
            <a:r>
              <a:rPr sz="1400">
                <a:solidFill>
                  <a:srgbClr val="3EB8F0"/>
                </a:solidFill>
                <a:latin typeface="Segoe UI"/>
              </a:rPr>
              <a:t>•  </a:t>
            </a:r>
            <a:r>
              <a:rPr sz="1400" b="1">
                <a:solidFill>
                  <a:srgbClr val="F5F7FA"/>
                </a:solidFill>
                <a:latin typeface="Segoe UI"/>
              </a:rPr>
              <a:t>Honest security messaging. </a:t>
            </a:r>
            <a:r>
              <a:rPr sz="1400">
                <a:solidFill>
                  <a:srgbClr val="F5F7FA"/>
                </a:solidFill>
                <a:latin typeface="Segoe UI"/>
              </a:rPr>
              <a:t>Every run prints an educational disclaimer — classical ciphers are not secure.</a:t>
            </a:r>
          </a:p>
        </p:txBody>
      </p:sp>
      <p:sp>
        <p:nvSpPr>
          <p:cNvPr id="9" name="Rectangle 8"/>
          <p:cNvSpPr/>
          <p:nvPr/>
        </p:nvSpPr>
        <p:spPr>
          <a:xfrm>
            <a:off x="6711315" y="1464945"/>
            <a:ext cx="5048250" cy="2785110"/>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03_launch_1.png"/>
          <p:cNvPicPr>
            <a:picLocks noChangeAspect="1"/>
          </p:cNvPicPr>
          <p:nvPr/>
        </p:nvPicPr>
        <p:blipFill>
          <a:blip r:embed="rId2"/>
          <a:stretch>
            <a:fillRect/>
          </a:stretch>
        </p:blipFill>
        <p:spPr>
          <a:xfrm>
            <a:off x="6720840" y="1474470"/>
            <a:ext cx="5029200" cy="2766060"/>
          </a:xfrm>
          <a:prstGeom prst="rect">
            <a:avLst/>
          </a:prstGeom>
        </p:spPr>
      </p:pic>
      <p:sp>
        <p:nvSpPr>
          <p:cNvPr id="11" name="Rectangle 10"/>
          <p:cNvSpPr/>
          <p:nvPr/>
        </p:nvSpPr>
        <p:spPr>
          <a:xfrm>
            <a:off x="6711315" y="4866799"/>
            <a:ext cx="5048250" cy="1056322"/>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03_launch_3.png"/>
          <p:cNvPicPr>
            <a:picLocks noChangeAspect="1"/>
          </p:cNvPicPr>
          <p:nvPr/>
        </p:nvPicPr>
        <p:blipFill>
          <a:blip r:embed="rId3"/>
          <a:stretch>
            <a:fillRect/>
          </a:stretch>
        </p:blipFill>
        <p:spPr>
          <a:xfrm>
            <a:off x="6720840" y="4876324"/>
            <a:ext cx="5029200" cy="1037272"/>
          </a:xfrm>
          <a:prstGeom prst="rect">
            <a:avLst/>
          </a:prstGeom>
        </p:spPr>
      </p:pic>
      <p:sp>
        <p:nvSpPr>
          <p:cNvPr id="13" name="TextBox 12"/>
          <p:cNvSpPr txBox="1"/>
          <p:nvPr/>
        </p:nvSpPr>
        <p:spPr>
          <a:xfrm>
            <a:off x="502920" y="6492240"/>
            <a:ext cx="10515600" cy="274320"/>
          </a:xfrm>
          <a:prstGeom prst="rect">
            <a:avLst/>
          </a:prstGeom>
          <a:noFill/>
        </p:spPr>
        <p:txBody>
          <a:bodyPr wrap="square" anchor="t" lIns="0" rIns="0" tIns="0" bIns="0">
            <a:spAutoFit/>
          </a:bodyPr>
          <a:lstStyle/>
          <a:p>
            <a:pPr algn="l"/>
            <a:r>
              <a:rPr sz="900" b="0">
                <a:solidFill>
                  <a:srgbClr val="9AB4CC"/>
                </a:solidFill>
                <a:latin typeface="Segoe UI"/>
              </a:rPr>
              <a:t>Screenshots: tool launch — banner, main menu and command reference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1750"/>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8686800" cy="274320"/>
          </a:xfrm>
          <a:prstGeom prst="rect">
            <a:avLst/>
          </a:prstGeom>
          <a:noFill/>
        </p:spPr>
        <p:txBody>
          <a:bodyPr wrap="square" anchor="t" lIns="0" rIns="0" tIns="0" bIns="0">
            <a:spAutoFit/>
          </a:bodyPr>
          <a:lstStyle/>
          <a:p>
            <a:pPr algn="l"/>
            <a:r>
              <a:rPr sz="1100" b="1">
                <a:solidFill>
                  <a:srgbClr val="3EB8F0"/>
                </a:solidFill>
                <a:latin typeface="Segoe UI"/>
              </a:rPr>
              <a:t>01 · ENVIRONMENT</a:t>
            </a:r>
          </a:p>
        </p:txBody>
      </p:sp>
      <p:sp>
        <p:nvSpPr>
          <p:cNvPr id="5" name="TextBox 4"/>
          <p:cNvSpPr txBox="1"/>
          <p:nvPr/>
        </p:nvSpPr>
        <p:spPr>
          <a:xfrm>
            <a:off x="502920" y="347472"/>
            <a:ext cx="10515600" cy="548640"/>
          </a:xfrm>
          <a:prstGeom prst="rect">
            <a:avLst/>
          </a:prstGeom>
          <a:noFill/>
        </p:spPr>
        <p:txBody>
          <a:bodyPr wrap="square" anchor="t" lIns="0" rIns="0" tIns="0" bIns="0">
            <a:spAutoFit/>
          </a:bodyPr>
          <a:lstStyle/>
          <a:p>
            <a:pPr algn="l"/>
            <a:r>
              <a:rPr sz="2600" b="1">
                <a:solidFill>
                  <a:srgbClr val="F5F7FA"/>
                </a:solidFill>
                <a:latin typeface="Segoe UI"/>
              </a:rPr>
              <a:t>Technology Stack &amp; Project Structure</a:t>
            </a:r>
          </a:p>
        </p:txBody>
      </p:sp>
      <p:sp>
        <p:nvSpPr>
          <p:cNvPr id="6" name="Rectangle 5"/>
          <p:cNvSpPr/>
          <p:nvPr/>
        </p:nvSpPr>
        <p:spPr>
          <a:xfrm>
            <a:off x="11338560" y="274320"/>
            <a:ext cx="502920" cy="411480"/>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301752"/>
            <a:ext cx="502920" cy="365760"/>
          </a:xfrm>
          <a:prstGeom prst="rect">
            <a:avLst/>
          </a:prstGeom>
          <a:noFill/>
        </p:spPr>
        <p:txBody>
          <a:bodyPr wrap="square" anchor="t" lIns="0" rIns="0" tIns="0" bIns="0">
            <a:spAutoFit/>
          </a:bodyPr>
          <a:lstStyle/>
          <a:p>
            <a:pPr algn="ctr"/>
            <a:r>
              <a:rPr sz="1200" b="1">
                <a:solidFill>
                  <a:srgbClr val="3EB8F0"/>
                </a:solidFill>
                <a:latin typeface="Consolas"/>
              </a:rPr>
              <a:t>04</a:t>
            </a:r>
          </a:p>
        </p:txBody>
      </p:sp>
      <p:sp>
        <p:nvSpPr>
          <p:cNvPr id="8" name="TextBox 7"/>
          <p:cNvSpPr txBox="1"/>
          <p:nvPr/>
        </p:nvSpPr>
        <p:spPr>
          <a:xfrm>
            <a:off x="502920" y="1371600"/>
            <a:ext cx="5486400" cy="4389120"/>
          </a:xfrm>
          <a:prstGeom prst="rect">
            <a:avLst/>
          </a:prstGeom>
          <a:noFill/>
        </p:spPr>
        <p:txBody>
          <a:bodyPr wrap="square" lIns="0" rIns="0" tIns="0" bIns="0">
            <a:spAutoFit/>
          </a:bodyPr>
          <a:lstStyle/>
          <a:p>
            <a:pPr algn="l">
              <a:spcAft>
                <a:spcPts val="1300"/>
              </a:spcAft>
            </a:pPr>
            <a:r>
              <a:rPr sz="1400">
                <a:solidFill>
                  <a:srgbClr val="3EB8F0"/>
                </a:solidFill>
                <a:latin typeface="Segoe UI"/>
              </a:rPr>
              <a:t>•  </a:t>
            </a:r>
            <a:r>
              <a:rPr sz="1400" b="1">
                <a:solidFill>
                  <a:srgbClr val="F5F7FA"/>
                </a:solidFill>
                <a:latin typeface="Segoe UI"/>
              </a:rPr>
              <a:t>Python 3.13 </a:t>
            </a:r>
            <a:r>
              <a:rPr sz="1400">
                <a:solidFill>
                  <a:srgbClr val="F5F7FA"/>
                </a:solidFill>
                <a:latin typeface="Segoe UI"/>
              </a:rPr>
              <a:t>— pure standard library, zero third-party runtime dependencies</a:t>
            </a:r>
          </a:p>
          <a:p>
            <a:pPr algn="l">
              <a:spcAft>
                <a:spcPts val="1300"/>
              </a:spcAft>
            </a:pPr>
            <a:r>
              <a:rPr sz="1400">
                <a:solidFill>
                  <a:srgbClr val="3EB8F0"/>
                </a:solidFill>
                <a:latin typeface="Segoe UI"/>
              </a:rPr>
              <a:t>•  </a:t>
            </a:r>
            <a:r>
              <a:rPr sz="1400" b="1">
                <a:solidFill>
                  <a:srgbClr val="F5F7FA"/>
                </a:solidFill>
                <a:latin typeface="Segoe UI"/>
              </a:rPr>
              <a:t>Modular packages </a:t>
            </a:r>
            <a:r>
              <a:rPr sz="1400">
                <a:solidFill>
                  <a:srgbClr val="F5F7FA"/>
                </a:solidFill>
                <a:latin typeface="Segoe UI"/>
              </a:rPr>
              <a:t>— ciphers, analysis, file_operations, utils, tests</a:t>
            </a:r>
          </a:p>
          <a:p>
            <a:pPr algn="l">
              <a:spcAft>
                <a:spcPts val="1300"/>
              </a:spcAft>
            </a:pPr>
            <a:r>
              <a:rPr sz="1400">
                <a:solidFill>
                  <a:srgbClr val="3EB8F0"/>
                </a:solidFill>
                <a:latin typeface="Segoe UI"/>
              </a:rPr>
              <a:t>•  </a:t>
            </a:r>
            <a:r>
              <a:rPr sz="1400" b="1">
                <a:solidFill>
                  <a:srgbClr val="F5F7FA"/>
                </a:solidFill>
                <a:latin typeface="Segoe UI"/>
              </a:rPr>
              <a:t>Two interfaces </a:t>
            </a:r>
            <a:r>
              <a:rPr sz="1400">
                <a:solidFill>
                  <a:srgbClr val="F5F7FA"/>
                </a:solidFill>
                <a:latin typeface="Segoe UI"/>
              </a:rPr>
              <a:t>— interactive menu + 9 CLI subcommands</a:t>
            </a:r>
          </a:p>
          <a:p>
            <a:pPr algn="l">
              <a:spcAft>
                <a:spcPts val="1300"/>
              </a:spcAft>
            </a:pPr>
            <a:r>
              <a:rPr sz="1400">
                <a:solidFill>
                  <a:srgbClr val="3EB8F0"/>
                </a:solidFill>
                <a:latin typeface="Segoe UI"/>
              </a:rPr>
              <a:t>•  </a:t>
            </a:r>
            <a:r>
              <a:rPr sz="1400" b="1">
                <a:solidFill>
                  <a:srgbClr val="F5F7FA"/>
                </a:solidFill>
                <a:latin typeface="Segoe UI"/>
              </a:rPr>
              <a:t>Sample data &amp; reports </a:t>
            </a:r>
            <a:r>
              <a:rPr sz="1400">
                <a:solidFill>
                  <a:srgbClr val="F5F7FA"/>
                </a:solidFill>
                <a:latin typeface="Segoe UI"/>
              </a:rPr>
              <a:t>— ready-made ciphertexts, timestamped output folder</a:t>
            </a:r>
          </a:p>
          <a:p>
            <a:pPr algn="l">
              <a:spcAft>
                <a:spcPts val="1300"/>
              </a:spcAft>
            </a:pPr>
            <a:r>
              <a:rPr sz="1400">
                <a:solidFill>
                  <a:srgbClr val="3EB8F0"/>
                </a:solidFill>
                <a:latin typeface="Segoe UI"/>
              </a:rPr>
              <a:t>•  </a:t>
            </a:r>
            <a:r>
              <a:rPr sz="1400" b="1">
                <a:solidFill>
                  <a:srgbClr val="F5F7FA"/>
                </a:solidFill>
                <a:latin typeface="Segoe UI"/>
              </a:rPr>
              <a:t>Verified quality </a:t>
            </a:r>
            <a:r>
              <a:rPr sz="1400">
                <a:solidFill>
                  <a:srgbClr val="F5F7FA"/>
                </a:solidFill>
                <a:latin typeface="Segoe UI"/>
              </a:rPr>
              <a:t>— 163 unit tests run in ~0.6 s, all passing</a:t>
            </a:r>
          </a:p>
        </p:txBody>
      </p:sp>
      <p:sp>
        <p:nvSpPr>
          <p:cNvPr id="9" name="Rectangle 8"/>
          <p:cNvSpPr/>
          <p:nvPr/>
        </p:nvSpPr>
        <p:spPr>
          <a:xfrm>
            <a:off x="6254115" y="2781109"/>
            <a:ext cx="2807970" cy="1204341"/>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02_structure.png"/>
          <p:cNvPicPr>
            <a:picLocks noChangeAspect="1"/>
          </p:cNvPicPr>
          <p:nvPr/>
        </p:nvPicPr>
        <p:blipFill>
          <a:blip r:embed="rId2"/>
          <a:stretch>
            <a:fillRect/>
          </a:stretch>
        </p:blipFill>
        <p:spPr>
          <a:xfrm>
            <a:off x="6263640" y="2790634"/>
            <a:ext cx="2788920" cy="1185291"/>
          </a:xfrm>
          <a:prstGeom prst="rect">
            <a:avLst/>
          </a:prstGeom>
        </p:spPr>
      </p:pic>
      <p:sp>
        <p:nvSpPr>
          <p:cNvPr id="11" name="Rectangle 10"/>
          <p:cNvSpPr/>
          <p:nvPr/>
        </p:nvSpPr>
        <p:spPr>
          <a:xfrm>
            <a:off x="9180195" y="1520145"/>
            <a:ext cx="2579370" cy="480150"/>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01_environment.png"/>
          <p:cNvPicPr>
            <a:picLocks noChangeAspect="1"/>
          </p:cNvPicPr>
          <p:nvPr/>
        </p:nvPicPr>
        <p:blipFill>
          <a:blip r:embed="rId3"/>
          <a:stretch>
            <a:fillRect/>
          </a:stretch>
        </p:blipFill>
        <p:spPr>
          <a:xfrm>
            <a:off x="9189720" y="1529670"/>
            <a:ext cx="2560320" cy="461100"/>
          </a:xfrm>
          <a:prstGeom prst="rect">
            <a:avLst/>
          </a:prstGeom>
        </p:spPr>
      </p:pic>
      <p:sp>
        <p:nvSpPr>
          <p:cNvPr id="13" name="Rectangle 12"/>
          <p:cNvSpPr/>
          <p:nvPr/>
        </p:nvSpPr>
        <p:spPr>
          <a:xfrm>
            <a:off x="9180195" y="3195447"/>
            <a:ext cx="2579370" cy="1427226"/>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02b_modules_1.png"/>
          <p:cNvPicPr>
            <a:picLocks noChangeAspect="1"/>
          </p:cNvPicPr>
          <p:nvPr/>
        </p:nvPicPr>
        <p:blipFill>
          <a:blip r:embed="rId4"/>
          <a:stretch>
            <a:fillRect/>
          </a:stretch>
        </p:blipFill>
        <p:spPr>
          <a:xfrm>
            <a:off x="9189720" y="3204972"/>
            <a:ext cx="2560320" cy="1408176"/>
          </a:xfrm>
          <a:prstGeom prst="rect">
            <a:avLst/>
          </a:prstGeom>
        </p:spPr>
      </p:pic>
      <p:sp>
        <p:nvSpPr>
          <p:cNvPr id="15" name="TextBox 14"/>
          <p:cNvSpPr txBox="1"/>
          <p:nvPr/>
        </p:nvSpPr>
        <p:spPr>
          <a:xfrm>
            <a:off x="502920" y="6492240"/>
            <a:ext cx="10515600" cy="274320"/>
          </a:xfrm>
          <a:prstGeom prst="rect">
            <a:avLst/>
          </a:prstGeom>
          <a:noFill/>
        </p:spPr>
        <p:txBody>
          <a:bodyPr wrap="square" anchor="t" lIns="0" rIns="0" tIns="0" bIns="0">
            <a:spAutoFit/>
          </a:bodyPr>
          <a:lstStyle/>
          <a:p>
            <a:pPr algn="l"/>
            <a:r>
              <a:rPr sz="900" b="0">
                <a:solidFill>
                  <a:srgbClr val="9AB4CC"/>
                </a:solidFill>
                <a:latin typeface="Segoe UI"/>
              </a:rPr>
              <a:t>Screenshots: python --version, folder structure and Python packages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1750"/>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8686800" cy="274320"/>
          </a:xfrm>
          <a:prstGeom prst="rect">
            <a:avLst/>
          </a:prstGeom>
          <a:noFill/>
        </p:spPr>
        <p:txBody>
          <a:bodyPr wrap="square" anchor="t" lIns="0" rIns="0" tIns="0" bIns="0">
            <a:spAutoFit/>
          </a:bodyPr>
          <a:lstStyle/>
          <a:p>
            <a:pPr algn="l"/>
            <a:r>
              <a:rPr sz="1100" b="1">
                <a:solidFill>
                  <a:srgbClr val="3EB8F0"/>
                </a:solidFill>
                <a:latin typeface="Segoe UI"/>
              </a:rPr>
              <a:t>02 · SYSTEM DESIGN</a:t>
            </a:r>
          </a:p>
        </p:txBody>
      </p:sp>
      <p:sp>
        <p:nvSpPr>
          <p:cNvPr id="5" name="TextBox 4"/>
          <p:cNvSpPr txBox="1"/>
          <p:nvPr/>
        </p:nvSpPr>
        <p:spPr>
          <a:xfrm>
            <a:off x="502920" y="347472"/>
            <a:ext cx="10515600" cy="548640"/>
          </a:xfrm>
          <a:prstGeom prst="rect">
            <a:avLst/>
          </a:prstGeom>
          <a:noFill/>
        </p:spPr>
        <p:txBody>
          <a:bodyPr wrap="square" anchor="t" lIns="0" rIns="0" tIns="0" bIns="0">
            <a:spAutoFit/>
          </a:bodyPr>
          <a:lstStyle/>
          <a:p>
            <a:pPr algn="l"/>
            <a:r>
              <a:rPr sz="2600" b="1">
                <a:solidFill>
                  <a:srgbClr val="F5F7FA"/>
                </a:solidFill>
                <a:latin typeface="Segoe UI"/>
              </a:rPr>
              <a:t>Layered Architecture</a:t>
            </a:r>
          </a:p>
        </p:txBody>
      </p:sp>
      <p:sp>
        <p:nvSpPr>
          <p:cNvPr id="6" name="Rectangle 5"/>
          <p:cNvSpPr/>
          <p:nvPr/>
        </p:nvSpPr>
        <p:spPr>
          <a:xfrm>
            <a:off x="11338560" y="274320"/>
            <a:ext cx="502920" cy="411480"/>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301752"/>
            <a:ext cx="502920" cy="365760"/>
          </a:xfrm>
          <a:prstGeom prst="rect">
            <a:avLst/>
          </a:prstGeom>
          <a:noFill/>
        </p:spPr>
        <p:txBody>
          <a:bodyPr wrap="square" anchor="t" lIns="0" rIns="0" tIns="0" bIns="0">
            <a:spAutoFit/>
          </a:bodyPr>
          <a:lstStyle/>
          <a:p>
            <a:pPr algn="ctr"/>
            <a:r>
              <a:rPr sz="1200" b="1">
                <a:solidFill>
                  <a:srgbClr val="3EB8F0"/>
                </a:solidFill>
                <a:latin typeface="Consolas"/>
              </a:rPr>
              <a:t>05</a:t>
            </a:r>
          </a:p>
        </p:txBody>
      </p:sp>
      <p:sp>
        <p:nvSpPr>
          <p:cNvPr id="8" name="Rectangle 7"/>
          <p:cNvSpPr/>
          <p:nvPr/>
        </p:nvSpPr>
        <p:spPr>
          <a:xfrm>
            <a:off x="502920" y="1280160"/>
            <a:ext cx="6903720" cy="1097280"/>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280160"/>
            <a:ext cx="91440" cy="1097280"/>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389888"/>
            <a:ext cx="6309360" cy="320040"/>
          </a:xfrm>
          <a:prstGeom prst="rect">
            <a:avLst/>
          </a:prstGeom>
          <a:noFill/>
        </p:spPr>
        <p:txBody>
          <a:bodyPr wrap="square" anchor="t" lIns="0" rIns="0" tIns="0" bIns="0">
            <a:spAutoFit/>
          </a:bodyPr>
          <a:lstStyle/>
          <a:p>
            <a:pPr algn="l"/>
            <a:r>
              <a:rPr sz="1300" b="1">
                <a:solidFill>
                  <a:srgbClr val="3EB8F0"/>
                </a:solidFill>
                <a:latin typeface="Segoe UI"/>
              </a:rPr>
              <a:t>USER INTERACTION</a:t>
            </a:r>
          </a:p>
        </p:txBody>
      </p:sp>
      <p:sp>
        <p:nvSpPr>
          <p:cNvPr id="11" name="TextBox 10"/>
          <p:cNvSpPr txBox="1"/>
          <p:nvPr/>
        </p:nvSpPr>
        <p:spPr>
          <a:xfrm>
            <a:off x="777240" y="1737360"/>
            <a:ext cx="6309360" cy="566928"/>
          </a:xfrm>
          <a:prstGeom prst="rect">
            <a:avLst/>
          </a:prstGeom>
          <a:noFill/>
        </p:spPr>
        <p:txBody>
          <a:bodyPr wrap="square" anchor="t" lIns="0" rIns="0" tIns="0" bIns="0">
            <a:spAutoFit/>
          </a:bodyPr>
          <a:lstStyle/>
          <a:p>
            <a:pPr algn="l"/>
            <a:r>
              <a:rPr sz="1150" b="0">
                <a:solidFill>
                  <a:srgbClr val="F5F7FA"/>
                </a:solidFill>
                <a:latin typeface="Segoe UI"/>
              </a:rPr>
              <a:t>Interactive menu (banner.py)   ·   argparse CLI (main.py)</a:t>
            </a:r>
          </a:p>
        </p:txBody>
      </p:sp>
      <p:sp>
        <p:nvSpPr>
          <p:cNvPr id="12" name="TextBox 11"/>
          <p:cNvSpPr txBox="1"/>
          <p:nvPr/>
        </p:nvSpPr>
        <p:spPr>
          <a:xfrm>
            <a:off x="3749039" y="2395728"/>
            <a:ext cx="457200" cy="274320"/>
          </a:xfrm>
          <a:prstGeom prst="rect">
            <a:avLst/>
          </a:prstGeom>
          <a:noFill/>
        </p:spPr>
        <p:txBody>
          <a:bodyPr wrap="square" anchor="t" lIns="0" rIns="0" tIns="0" bIns="0">
            <a:spAutoFit/>
          </a:bodyPr>
          <a:lstStyle/>
          <a:p>
            <a:pPr algn="ctr"/>
            <a:r>
              <a:rPr sz="1200" b="0">
                <a:solidFill>
                  <a:srgbClr val="9AB4CC"/>
                </a:solidFill>
                <a:latin typeface="Segoe UI"/>
              </a:rPr>
              <a:t>▼</a:t>
            </a:r>
          </a:p>
        </p:txBody>
      </p:sp>
      <p:sp>
        <p:nvSpPr>
          <p:cNvPr id="13" name="Rectangle 12"/>
          <p:cNvSpPr/>
          <p:nvPr/>
        </p:nvSpPr>
        <p:spPr>
          <a:xfrm>
            <a:off x="502920" y="2523744"/>
            <a:ext cx="6903720" cy="1097280"/>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2523744"/>
            <a:ext cx="91440" cy="1097280"/>
          </a:xfrm>
          <a:prstGeom prst="rect">
            <a:avLst/>
          </a:prstGeom>
          <a:solidFill>
            <a:srgbClr val="39D3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633472"/>
            <a:ext cx="6309360" cy="320040"/>
          </a:xfrm>
          <a:prstGeom prst="rect">
            <a:avLst/>
          </a:prstGeom>
          <a:noFill/>
        </p:spPr>
        <p:txBody>
          <a:bodyPr wrap="square" anchor="t" lIns="0" rIns="0" tIns="0" bIns="0">
            <a:spAutoFit/>
          </a:bodyPr>
          <a:lstStyle/>
          <a:p>
            <a:pPr algn="l"/>
            <a:r>
              <a:rPr sz="1300" b="1">
                <a:solidFill>
                  <a:srgbClr val="39D353"/>
                </a:solidFill>
                <a:latin typeface="Segoe UI"/>
              </a:rPr>
              <a:t>OPERATIONS</a:t>
            </a:r>
          </a:p>
        </p:txBody>
      </p:sp>
      <p:sp>
        <p:nvSpPr>
          <p:cNvPr id="16" name="TextBox 15"/>
          <p:cNvSpPr txBox="1"/>
          <p:nvPr/>
        </p:nvSpPr>
        <p:spPr>
          <a:xfrm>
            <a:off x="777240" y="2980944"/>
            <a:ext cx="6309360" cy="566928"/>
          </a:xfrm>
          <a:prstGeom prst="rect">
            <a:avLst/>
          </a:prstGeom>
          <a:noFill/>
        </p:spPr>
        <p:txBody>
          <a:bodyPr wrap="square" anchor="t" lIns="0" rIns="0" tIns="0" bIns="0">
            <a:spAutoFit/>
          </a:bodyPr>
          <a:lstStyle/>
          <a:p>
            <a:pPr algn="l"/>
            <a:r>
              <a:rPr sz="1150" b="0">
                <a:solidFill>
                  <a:srgbClr val="F5F7FA"/>
                </a:solidFill>
                <a:latin typeface="Segoe UI"/>
              </a:rPr>
              <a:t>Caesar / Vigenère encrypt · decrypt   ·   Frequency · IC · Kasiski · Security   ·   Files · Reports</a:t>
            </a:r>
          </a:p>
        </p:txBody>
      </p:sp>
      <p:sp>
        <p:nvSpPr>
          <p:cNvPr id="17" name="TextBox 16"/>
          <p:cNvSpPr txBox="1"/>
          <p:nvPr/>
        </p:nvSpPr>
        <p:spPr>
          <a:xfrm>
            <a:off x="3749039" y="3639312"/>
            <a:ext cx="457200" cy="274320"/>
          </a:xfrm>
          <a:prstGeom prst="rect">
            <a:avLst/>
          </a:prstGeom>
          <a:noFill/>
        </p:spPr>
        <p:txBody>
          <a:bodyPr wrap="square" anchor="t" lIns="0" rIns="0" tIns="0" bIns="0">
            <a:spAutoFit/>
          </a:bodyPr>
          <a:lstStyle/>
          <a:p>
            <a:pPr algn="ctr"/>
            <a:r>
              <a:rPr sz="1200" b="0">
                <a:solidFill>
                  <a:srgbClr val="9AB4CC"/>
                </a:solidFill>
                <a:latin typeface="Segoe UI"/>
              </a:rPr>
              <a:t>▼</a:t>
            </a:r>
          </a:p>
        </p:txBody>
      </p:sp>
      <p:sp>
        <p:nvSpPr>
          <p:cNvPr id="18" name="Rectangle 17"/>
          <p:cNvSpPr/>
          <p:nvPr/>
        </p:nvSpPr>
        <p:spPr>
          <a:xfrm>
            <a:off x="502920" y="3767328"/>
            <a:ext cx="6903720" cy="1097280"/>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767328"/>
            <a:ext cx="91440" cy="1097280"/>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877056"/>
            <a:ext cx="6309360" cy="320040"/>
          </a:xfrm>
          <a:prstGeom prst="rect">
            <a:avLst/>
          </a:prstGeom>
          <a:noFill/>
        </p:spPr>
        <p:txBody>
          <a:bodyPr wrap="square" anchor="t" lIns="0" rIns="0" tIns="0" bIns="0">
            <a:spAutoFit/>
          </a:bodyPr>
          <a:lstStyle/>
          <a:p>
            <a:pPr algn="l"/>
            <a:r>
              <a:rPr sz="1300" b="1">
                <a:solidFill>
                  <a:srgbClr val="3EB8F0"/>
                </a:solidFill>
                <a:latin typeface="Segoe UI"/>
              </a:rPr>
              <a:t>CORE ENGINES</a:t>
            </a:r>
          </a:p>
        </p:txBody>
      </p:sp>
      <p:sp>
        <p:nvSpPr>
          <p:cNvPr id="21" name="TextBox 20"/>
          <p:cNvSpPr txBox="1"/>
          <p:nvPr/>
        </p:nvSpPr>
        <p:spPr>
          <a:xfrm>
            <a:off x="777240" y="4224528"/>
            <a:ext cx="6309360" cy="566928"/>
          </a:xfrm>
          <a:prstGeom prst="rect">
            <a:avLst/>
          </a:prstGeom>
          <a:noFill/>
        </p:spPr>
        <p:txBody>
          <a:bodyPr wrap="square" anchor="t" lIns="0" rIns="0" tIns="0" bIns="0">
            <a:spAutoFit/>
          </a:bodyPr>
          <a:lstStyle/>
          <a:p>
            <a:pPr algn="l"/>
            <a:r>
              <a:rPr sz="1150" b="0">
                <a:solidFill>
                  <a:srgbClr val="F5F7FA"/>
                </a:solidFill>
                <a:latin typeface="Segoe UI"/>
              </a:rPr>
              <a:t>ciphers/caesar.py · vigenere.py   ·   analysis/caesar_cracker.py · vigenere_analyzer.py</a:t>
            </a:r>
          </a:p>
        </p:txBody>
      </p:sp>
      <p:sp>
        <p:nvSpPr>
          <p:cNvPr id="22" name="TextBox 21"/>
          <p:cNvSpPr txBox="1"/>
          <p:nvPr/>
        </p:nvSpPr>
        <p:spPr>
          <a:xfrm>
            <a:off x="3749039" y="4882896"/>
            <a:ext cx="457200" cy="274320"/>
          </a:xfrm>
          <a:prstGeom prst="rect">
            <a:avLst/>
          </a:prstGeom>
          <a:noFill/>
        </p:spPr>
        <p:txBody>
          <a:bodyPr wrap="square" anchor="t" lIns="0" rIns="0" tIns="0" bIns="0">
            <a:spAutoFit/>
          </a:bodyPr>
          <a:lstStyle/>
          <a:p>
            <a:pPr algn="ctr"/>
            <a:r>
              <a:rPr sz="1200" b="0">
                <a:solidFill>
                  <a:srgbClr val="9AB4CC"/>
                </a:solidFill>
                <a:latin typeface="Segoe UI"/>
              </a:rPr>
              <a:t>▼</a:t>
            </a:r>
          </a:p>
        </p:txBody>
      </p:sp>
      <p:sp>
        <p:nvSpPr>
          <p:cNvPr id="23" name="Rectangle 22"/>
          <p:cNvSpPr/>
          <p:nvPr/>
        </p:nvSpPr>
        <p:spPr>
          <a:xfrm>
            <a:off x="502920" y="5010912"/>
            <a:ext cx="6903720" cy="1097280"/>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5010912"/>
            <a:ext cx="91440" cy="1097280"/>
          </a:xfrm>
          <a:prstGeom prst="rect">
            <a:avLst/>
          </a:prstGeom>
          <a:solidFill>
            <a:srgbClr val="9A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120640"/>
            <a:ext cx="6309360" cy="320040"/>
          </a:xfrm>
          <a:prstGeom prst="rect">
            <a:avLst/>
          </a:prstGeom>
          <a:noFill/>
        </p:spPr>
        <p:txBody>
          <a:bodyPr wrap="square" anchor="t" lIns="0" rIns="0" tIns="0" bIns="0">
            <a:spAutoFit/>
          </a:bodyPr>
          <a:lstStyle/>
          <a:p>
            <a:pPr algn="l"/>
            <a:r>
              <a:rPr sz="1300" b="1">
                <a:solidFill>
                  <a:srgbClr val="9AB4CC"/>
                </a:solidFill>
                <a:latin typeface="Segoe UI"/>
              </a:rPr>
              <a:t>SHARED SERVICES</a:t>
            </a:r>
          </a:p>
        </p:txBody>
      </p:sp>
      <p:sp>
        <p:nvSpPr>
          <p:cNvPr id="26" name="TextBox 25"/>
          <p:cNvSpPr txBox="1"/>
          <p:nvPr/>
        </p:nvSpPr>
        <p:spPr>
          <a:xfrm>
            <a:off x="777240" y="5468112"/>
            <a:ext cx="6309360" cy="566928"/>
          </a:xfrm>
          <a:prstGeom prst="rect">
            <a:avLst/>
          </a:prstGeom>
          <a:noFill/>
        </p:spPr>
        <p:txBody>
          <a:bodyPr wrap="square" anchor="t" lIns="0" rIns="0" tIns="0" bIns="0">
            <a:spAutoFit/>
          </a:bodyPr>
          <a:lstStyle/>
          <a:p>
            <a:pPr algn="l"/>
            <a:r>
              <a:rPr sz="1150" b="0">
                <a:solidFill>
                  <a:srgbClr val="F5F7FA"/>
                </a:solidFill>
                <a:latin typeface="Segoe UI"/>
              </a:rPr>
              <a:t>validators · text_utils · report_generator — standard library only</a:t>
            </a:r>
          </a:p>
        </p:txBody>
      </p:sp>
      <p:sp>
        <p:nvSpPr>
          <p:cNvPr id="27" name="Rectangle 26"/>
          <p:cNvSpPr/>
          <p:nvPr/>
        </p:nvSpPr>
        <p:spPr>
          <a:xfrm>
            <a:off x="7772400" y="1280160"/>
            <a:ext cx="3977639" cy="4892040"/>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0" y="1481328"/>
            <a:ext cx="3474720" cy="365760"/>
          </a:xfrm>
          <a:prstGeom prst="rect">
            <a:avLst/>
          </a:prstGeom>
          <a:noFill/>
        </p:spPr>
        <p:txBody>
          <a:bodyPr wrap="square" anchor="t" lIns="0" rIns="0" tIns="0" bIns="0">
            <a:spAutoFit/>
          </a:bodyPr>
          <a:lstStyle/>
          <a:p>
            <a:pPr algn="l"/>
            <a:r>
              <a:rPr sz="1300" b="1">
                <a:solidFill>
                  <a:srgbClr val="3EB8F0"/>
                </a:solidFill>
                <a:latin typeface="Segoe UI"/>
              </a:rPr>
              <a:t>WHY LAYERS?</a:t>
            </a:r>
          </a:p>
        </p:txBody>
      </p:sp>
      <p:sp>
        <p:nvSpPr>
          <p:cNvPr id="29" name="TextBox 28"/>
          <p:cNvSpPr txBox="1"/>
          <p:nvPr/>
        </p:nvSpPr>
        <p:spPr>
          <a:xfrm>
            <a:off x="8046720" y="1920240"/>
            <a:ext cx="3474720" cy="4114800"/>
          </a:xfrm>
          <a:prstGeom prst="rect">
            <a:avLst/>
          </a:prstGeom>
          <a:noFill/>
        </p:spPr>
        <p:txBody>
          <a:bodyPr wrap="square" lIns="0" rIns="0" tIns="0" bIns="0">
            <a:spAutoFit/>
          </a:bodyPr>
          <a:lstStyle/>
          <a:p>
            <a:pPr algn="l">
              <a:spcAft>
                <a:spcPts val="1000"/>
              </a:spcAft>
            </a:pPr>
            <a:r>
              <a:rPr sz="1200">
                <a:solidFill>
                  <a:srgbClr val="3EB8F0"/>
                </a:solidFill>
                <a:latin typeface="Segoe UI"/>
              </a:rPr>
              <a:t>•  </a:t>
            </a:r>
            <a:r>
              <a:rPr sz="1200">
                <a:solidFill>
                  <a:srgbClr val="F5F7FA"/>
                </a:solidFill>
                <a:latin typeface="Segoe UI"/>
              </a:rPr>
              <a:t>main.py only presents results — no cryptography lives there</a:t>
            </a:r>
          </a:p>
          <a:p>
            <a:pPr algn="l">
              <a:spcAft>
                <a:spcPts val="1000"/>
              </a:spcAft>
            </a:pPr>
            <a:r>
              <a:rPr sz="1200">
                <a:solidFill>
                  <a:srgbClr val="3EB8F0"/>
                </a:solidFill>
                <a:latin typeface="Segoe UI"/>
              </a:rPr>
              <a:t>•  </a:t>
            </a:r>
            <a:r>
              <a:rPr sz="1200">
                <a:solidFill>
                  <a:srgbClr val="F5F7FA"/>
                </a:solidFill>
                <a:latin typeface="Segoe UI"/>
              </a:rPr>
              <a:t>Each analysis module is independently testable</a:t>
            </a:r>
          </a:p>
          <a:p>
            <a:pPr algn="l">
              <a:spcAft>
                <a:spcPts val="1000"/>
              </a:spcAft>
            </a:pPr>
            <a:r>
              <a:rPr sz="1200">
                <a:solidFill>
                  <a:srgbClr val="3EB8F0"/>
                </a:solidFill>
                <a:latin typeface="Segoe UI"/>
              </a:rPr>
              <a:t>•  </a:t>
            </a:r>
            <a:r>
              <a:rPr sz="1200">
                <a:solidFill>
                  <a:srgbClr val="F5F7FA"/>
                </a:solidFill>
                <a:latin typeface="Segoe UI"/>
              </a:rPr>
              <a:t>Validators stop bad input before the engines run</a:t>
            </a:r>
          </a:p>
          <a:p>
            <a:pPr algn="l">
              <a:spcAft>
                <a:spcPts val="1000"/>
              </a:spcAft>
            </a:pPr>
            <a:r>
              <a:rPr sz="1200">
                <a:solidFill>
                  <a:srgbClr val="3EB8F0"/>
                </a:solidFill>
                <a:latin typeface="Segoe UI"/>
              </a:rPr>
              <a:t>•  </a:t>
            </a:r>
            <a:r>
              <a:rPr sz="1200">
                <a:solidFill>
                  <a:srgbClr val="F5F7FA"/>
                </a:solidFill>
                <a:latin typeface="Segoe UI"/>
              </a:rPr>
              <a:t>One ReportBuilder is shared by every command</a:t>
            </a:r>
          </a:p>
          <a:p>
            <a:pPr algn="l">
              <a:spcAft>
                <a:spcPts val="1000"/>
              </a:spcAft>
            </a:pPr>
            <a:r>
              <a:rPr sz="1200">
                <a:solidFill>
                  <a:srgbClr val="3EB8F0"/>
                </a:solidFill>
                <a:latin typeface="Segoe UI"/>
              </a:rPr>
              <a:t>•  </a:t>
            </a:r>
            <a:r>
              <a:rPr sz="1200">
                <a:solidFill>
                  <a:srgbClr val="F5F7FA"/>
                </a:solidFill>
                <a:latin typeface="Segoe UI"/>
              </a:rPr>
              <a:t>The 163 tests map directly to module boundaries</a:t>
            </a:r>
          </a:p>
        </p:txBody>
      </p:sp>
      <p:sp>
        <p:nvSpPr>
          <p:cNvPr id="30" name="TextBox 29"/>
          <p:cNvSpPr txBox="1"/>
          <p:nvPr/>
        </p:nvSpPr>
        <p:spPr>
          <a:xfrm>
            <a:off x="502920" y="6492240"/>
            <a:ext cx="10515600" cy="274320"/>
          </a:xfrm>
          <a:prstGeom prst="rect">
            <a:avLst/>
          </a:prstGeom>
          <a:noFill/>
        </p:spPr>
        <p:txBody>
          <a:bodyPr wrap="square" anchor="t" lIns="0" rIns="0" tIns="0" bIns="0">
            <a:spAutoFit/>
          </a:bodyPr>
          <a:lstStyle/>
          <a:p>
            <a:pPr algn="l"/>
            <a:r>
              <a:rPr sz="900" b="0">
                <a:solidFill>
                  <a:srgbClr val="9AB4CC"/>
                </a:solidFill>
                <a:latin typeface="Segoe UI"/>
              </a:rPr>
              <a:t>Design principle: presentation strictly separated from cryptanalysis logic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1750"/>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8686800" cy="274320"/>
          </a:xfrm>
          <a:prstGeom prst="rect">
            <a:avLst/>
          </a:prstGeom>
          <a:noFill/>
        </p:spPr>
        <p:txBody>
          <a:bodyPr wrap="square" anchor="t" lIns="0" rIns="0" tIns="0" bIns="0">
            <a:spAutoFit/>
          </a:bodyPr>
          <a:lstStyle/>
          <a:p>
            <a:pPr algn="l"/>
            <a:r>
              <a:rPr sz="1100" b="1">
                <a:solidFill>
                  <a:srgbClr val="3EB8F0"/>
                </a:solidFill>
                <a:latin typeface="Segoe UI"/>
              </a:rPr>
              <a:t>02 · SYSTEM DESIGN</a:t>
            </a:r>
          </a:p>
        </p:txBody>
      </p:sp>
      <p:sp>
        <p:nvSpPr>
          <p:cNvPr id="5" name="TextBox 4"/>
          <p:cNvSpPr txBox="1"/>
          <p:nvPr/>
        </p:nvSpPr>
        <p:spPr>
          <a:xfrm>
            <a:off x="502920" y="347472"/>
            <a:ext cx="10515600" cy="548640"/>
          </a:xfrm>
          <a:prstGeom prst="rect">
            <a:avLst/>
          </a:prstGeom>
          <a:noFill/>
        </p:spPr>
        <p:txBody>
          <a:bodyPr wrap="square" anchor="t" lIns="0" rIns="0" tIns="0" bIns="0">
            <a:spAutoFit/>
          </a:bodyPr>
          <a:lstStyle/>
          <a:p>
            <a:pPr algn="l"/>
            <a:r>
              <a:rPr sz="2600" b="1">
                <a:solidFill>
                  <a:srgbClr val="F5F7FA"/>
                </a:solidFill>
                <a:latin typeface="Segoe UI"/>
              </a:rPr>
              <a:t>Request Flow: From Input to Report</a:t>
            </a:r>
          </a:p>
        </p:txBody>
      </p:sp>
      <p:sp>
        <p:nvSpPr>
          <p:cNvPr id="6" name="Rectangle 5"/>
          <p:cNvSpPr/>
          <p:nvPr/>
        </p:nvSpPr>
        <p:spPr>
          <a:xfrm>
            <a:off x="11338560" y="274320"/>
            <a:ext cx="502920" cy="411480"/>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301752"/>
            <a:ext cx="502920" cy="365760"/>
          </a:xfrm>
          <a:prstGeom prst="rect">
            <a:avLst/>
          </a:prstGeom>
          <a:noFill/>
        </p:spPr>
        <p:txBody>
          <a:bodyPr wrap="square" anchor="t" lIns="0" rIns="0" tIns="0" bIns="0">
            <a:spAutoFit/>
          </a:bodyPr>
          <a:lstStyle/>
          <a:p>
            <a:pPr algn="ctr"/>
            <a:r>
              <a:rPr sz="1200" b="1">
                <a:solidFill>
                  <a:srgbClr val="3EB8F0"/>
                </a:solidFill>
                <a:latin typeface="Consolas"/>
              </a:rPr>
              <a:t>06</a:t>
            </a:r>
          </a:p>
        </p:txBody>
      </p:sp>
      <p:sp>
        <p:nvSpPr>
          <p:cNvPr id="8" name="Rectangle 7"/>
          <p:cNvSpPr/>
          <p:nvPr/>
        </p:nvSpPr>
        <p:spPr>
          <a:xfrm>
            <a:off x="502920" y="1508760"/>
            <a:ext cx="2084831" cy="1874519"/>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08760"/>
            <a:ext cx="2084831" cy="82296"/>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691640"/>
            <a:ext cx="1755647" cy="457200"/>
          </a:xfrm>
          <a:prstGeom prst="rect">
            <a:avLst/>
          </a:prstGeom>
          <a:noFill/>
        </p:spPr>
        <p:txBody>
          <a:bodyPr wrap="square" anchor="t" lIns="0" rIns="0" tIns="0" bIns="0">
            <a:spAutoFit/>
          </a:bodyPr>
          <a:lstStyle/>
          <a:p>
            <a:pPr algn="l"/>
            <a:r>
              <a:rPr sz="2600" b="1">
                <a:solidFill>
                  <a:srgbClr val="3EB8F0"/>
                </a:solidFill>
                <a:latin typeface="Segoe UI"/>
              </a:rPr>
              <a:t>1</a:t>
            </a:r>
          </a:p>
        </p:txBody>
      </p:sp>
      <p:sp>
        <p:nvSpPr>
          <p:cNvPr id="11" name="TextBox 10"/>
          <p:cNvSpPr txBox="1"/>
          <p:nvPr/>
        </p:nvSpPr>
        <p:spPr>
          <a:xfrm>
            <a:off x="667512" y="2240280"/>
            <a:ext cx="1755647" cy="320040"/>
          </a:xfrm>
          <a:prstGeom prst="rect">
            <a:avLst/>
          </a:prstGeom>
          <a:noFill/>
        </p:spPr>
        <p:txBody>
          <a:bodyPr wrap="square" anchor="t" lIns="0" rIns="0" tIns="0" bIns="0">
            <a:spAutoFit/>
          </a:bodyPr>
          <a:lstStyle/>
          <a:p>
            <a:pPr algn="l"/>
            <a:r>
              <a:rPr sz="1400" b="1">
                <a:solidFill>
                  <a:srgbClr val="F5F7FA"/>
                </a:solidFill>
                <a:latin typeface="Segoe UI"/>
              </a:rPr>
              <a:t>INPUT</a:t>
            </a:r>
          </a:p>
        </p:txBody>
      </p:sp>
      <p:sp>
        <p:nvSpPr>
          <p:cNvPr id="12" name="TextBox 11"/>
          <p:cNvSpPr txBox="1"/>
          <p:nvPr/>
        </p:nvSpPr>
        <p:spPr>
          <a:xfrm>
            <a:off x="667512" y="2606040"/>
            <a:ext cx="1755647" cy="731520"/>
          </a:xfrm>
          <a:prstGeom prst="rect">
            <a:avLst/>
          </a:prstGeom>
          <a:noFill/>
        </p:spPr>
        <p:txBody>
          <a:bodyPr wrap="square" anchor="t" lIns="0" rIns="0" tIns="0" bIns="0">
            <a:spAutoFit/>
          </a:bodyPr>
          <a:lstStyle/>
          <a:p>
            <a:pPr algn="l"/>
            <a:r>
              <a:rPr sz="1100" b="0">
                <a:solidFill>
                  <a:srgbClr val="9AB4CC"/>
                </a:solidFill>
                <a:latin typeface="Segoe UI"/>
              </a:rPr>
              <a:t>Typed text, file input, or CLI flags</a:t>
            </a:r>
          </a:p>
        </p:txBody>
      </p:sp>
      <p:sp>
        <p:nvSpPr>
          <p:cNvPr id="13" name="TextBox 12"/>
          <p:cNvSpPr txBox="1"/>
          <p:nvPr/>
        </p:nvSpPr>
        <p:spPr>
          <a:xfrm>
            <a:off x="2587751" y="2286000"/>
            <a:ext cx="201168" cy="365760"/>
          </a:xfrm>
          <a:prstGeom prst="rect">
            <a:avLst/>
          </a:prstGeom>
          <a:noFill/>
        </p:spPr>
        <p:txBody>
          <a:bodyPr wrap="square" anchor="t" lIns="0" rIns="0" tIns="0" bIns="0">
            <a:spAutoFit/>
          </a:bodyPr>
          <a:lstStyle/>
          <a:p>
            <a:pPr algn="ctr"/>
            <a:r>
              <a:rPr sz="1200" b="0">
                <a:solidFill>
                  <a:srgbClr val="3EB8F0"/>
                </a:solidFill>
                <a:latin typeface="Consolas"/>
              </a:rPr>
              <a:t>▶</a:t>
            </a:r>
          </a:p>
        </p:txBody>
      </p:sp>
      <p:sp>
        <p:nvSpPr>
          <p:cNvPr id="14" name="Rectangle 13"/>
          <p:cNvSpPr/>
          <p:nvPr/>
        </p:nvSpPr>
        <p:spPr>
          <a:xfrm>
            <a:off x="2788919" y="1508760"/>
            <a:ext cx="2084831" cy="1874519"/>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88919" y="1508760"/>
            <a:ext cx="2084831" cy="82296"/>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53511" y="1691640"/>
            <a:ext cx="1755647" cy="457200"/>
          </a:xfrm>
          <a:prstGeom prst="rect">
            <a:avLst/>
          </a:prstGeom>
          <a:noFill/>
        </p:spPr>
        <p:txBody>
          <a:bodyPr wrap="square" anchor="t" lIns="0" rIns="0" tIns="0" bIns="0">
            <a:spAutoFit/>
          </a:bodyPr>
          <a:lstStyle/>
          <a:p>
            <a:pPr algn="l"/>
            <a:r>
              <a:rPr sz="2600" b="1">
                <a:solidFill>
                  <a:srgbClr val="3EB8F0"/>
                </a:solidFill>
                <a:latin typeface="Segoe UI"/>
              </a:rPr>
              <a:t>2</a:t>
            </a:r>
          </a:p>
        </p:txBody>
      </p:sp>
      <p:sp>
        <p:nvSpPr>
          <p:cNvPr id="17" name="TextBox 16"/>
          <p:cNvSpPr txBox="1"/>
          <p:nvPr/>
        </p:nvSpPr>
        <p:spPr>
          <a:xfrm>
            <a:off x="2953511" y="2240280"/>
            <a:ext cx="1755647" cy="320040"/>
          </a:xfrm>
          <a:prstGeom prst="rect">
            <a:avLst/>
          </a:prstGeom>
          <a:noFill/>
        </p:spPr>
        <p:txBody>
          <a:bodyPr wrap="square" anchor="t" lIns="0" rIns="0" tIns="0" bIns="0">
            <a:spAutoFit/>
          </a:bodyPr>
          <a:lstStyle/>
          <a:p>
            <a:pPr algn="l"/>
            <a:r>
              <a:rPr sz="1400" b="1">
                <a:solidFill>
                  <a:srgbClr val="F5F7FA"/>
                </a:solidFill>
                <a:latin typeface="Segoe UI"/>
              </a:rPr>
              <a:t>VALIDATE</a:t>
            </a:r>
          </a:p>
        </p:txBody>
      </p:sp>
      <p:sp>
        <p:nvSpPr>
          <p:cNvPr id="18" name="TextBox 17"/>
          <p:cNvSpPr txBox="1"/>
          <p:nvPr/>
        </p:nvSpPr>
        <p:spPr>
          <a:xfrm>
            <a:off x="2953511" y="2606040"/>
            <a:ext cx="1755647" cy="731520"/>
          </a:xfrm>
          <a:prstGeom prst="rect">
            <a:avLst/>
          </a:prstGeom>
          <a:noFill/>
        </p:spPr>
        <p:txBody>
          <a:bodyPr wrap="square" anchor="t" lIns="0" rIns="0" tIns="0" bIns="0">
            <a:spAutoFit/>
          </a:bodyPr>
          <a:lstStyle/>
          <a:p>
            <a:pPr algn="l"/>
            <a:r>
              <a:rPr sz="1100" b="0">
                <a:solidFill>
                  <a:srgbClr val="9AB4CC"/>
                </a:solidFill>
                <a:latin typeface="Segoe UI"/>
              </a:rPr>
              <a:t>validators.py — shift, key and text rules</a:t>
            </a:r>
          </a:p>
        </p:txBody>
      </p:sp>
      <p:sp>
        <p:nvSpPr>
          <p:cNvPr id="19" name="TextBox 18"/>
          <p:cNvSpPr txBox="1"/>
          <p:nvPr/>
        </p:nvSpPr>
        <p:spPr>
          <a:xfrm>
            <a:off x="4873750" y="2286000"/>
            <a:ext cx="201168" cy="365760"/>
          </a:xfrm>
          <a:prstGeom prst="rect">
            <a:avLst/>
          </a:prstGeom>
          <a:noFill/>
        </p:spPr>
        <p:txBody>
          <a:bodyPr wrap="square" anchor="t" lIns="0" rIns="0" tIns="0" bIns="0">
            <a:spAutoFit/>
          </a:bodyPr>
          <a:lstStyle/>
          <a:p>
            <a:pPr algn="ctr"/>
            <a:r>
              <a:rPr sz="1200" b="0">
                <a:solidFill>
                  <a:srgbClr val="3EB8F0"/>
                </a:solidFill>
                <a:latin typeface="Consolas"/>
              </a:rPr>
              <a:t>▶</a:t>
            </a:r>
          </a:p>
        </p:txBody>
      </p:sp>
      <p:sp>
        <p:nvSpPr>
          <p:cNvPr id="20" name="Rectangle 19"/>
          <p:cNvSpPr/>
          <p:nvPr/>
        </p:nvSpPr>
        <p:spPr>
          <a:xfrm>
            <a:off x="5074918" y="1508760"/>
            <a:ext cx="2084831" cy="1874519"/>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4918" y="1508760"/>
            <a:ext cx="2084831" cy="82296"/>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39510" y="1691640"/>
            <a:ext cx="1755647" cy="457200"/>
          </a:xfrm>
          <a:prstGeom prst="rect">
            <a:avLst/>
          </a:prstGeom>
          <a:noFill/>
        </p:spPr>
        <p:txBody>
          <a:bodyPr wrap="square" anchor="t" lIns="0" rIns="0" tIns="0" bIns="0">
            <a:spAutoFit/>
          </a:bodyPr>
          <a:lstStyle/>
          <a:p>
            <a:pPr algn="l"/>
            <a:r>
              <a:rPr sz="2600" b="1">
                <a:solidFill>
                  <a:srgbClr val="3EB8F0"/>
                </a:solidFill>
                <a:latin typeface="Segoe UI"/>
              </a:rPr>
              <a:t>3</a:t>
            </a:r>
          </a:p>
        </p:txBody>
      </p:sp>
      <p:sp>
        <p:nvSpPr>
          <p:cNvPr id="23" name="TextBox 22"/>
          <p:cNvSpPr txBox="1"/>
          <p:nvPr/>
        </p:nvSpPr>
        <p:spPr>
          <a:xfrm>
            <a:off x="5239510" y="2240280"/>
            <a:ext cx="1755647" cy="320040"/>
          </a:xfrm>
          <a:prstGeom prst="rect">
            <a:avLst/>
          </a:prstGeom>
          <a:noFill/>
        </p:spPr>
        <p:txBody>
          <a:bodyPr wrap="square" anchor="t" lIns="0" rIns="0" tIns="0" bIns="0">
            <a:spAutoFit/>
          </a:bodyPr>
          <a:lstStyle/>
          <a:p>
            <a:pPr algn="l"/>
            <a:r>
              <a:rPr sz="1400" b="1">
                <a:solidFill>
                  <a:srgbClr val="F5F7FA"/>
                </a:solidFill>
                <a:latin typeface="Segoe UI"/>
              </a:rPr>
              <a:t>PROCESS</a:t>
            </a:r>
          </a:p>
        </p:txBody>
      </p:sp>
      <p:sp>
        <p:nvSpPr>
          <p:cNvPr id="24" name="TextBox 23"/>
          <p:cNvSpPr txBox="1"/>
          <p:nvPr/>
        </p:nvSpPr>
        <p:spPr>
          <a:xfrm>
            <a:off x="5239510" y="2606040"/>
            <a:ext cx="1755647" cy="731520"/>
          </a:xfrm>
          <a:prstGeom prst="rect">
            <a:avLst/>
          </a:prstGeom>
          <a:noFill/>
        </p:spPr>
        <p:txBody>
          <a:bodyPr wrap="square" anchor="t" lIns="0" rIns="0" tIns="0" bIns="0">
            <a:spAutoFit/>
          </a:bodyPr>
          <a:lstStyle/>
          <a:p>
            <a:pPr algn="l"/>
            <a:r>
              <a:rPr sz="1100" b="0">
                <a:solidFill>
                  <a:srgbClr val="9AB4CC"/>
                </a:solidFill>
                <a:latin typeface="Segoe UI"/>
              </a:rPr>
              <a:t>Cipher engines / analysis engines</a:t>
            </a:r>
          </a:p>
        </p:txBody>
      </p:sp>
      <p:sp>
        <p:nvSpPr>
          <p:cNvPr id="25" name="TextBox 24"/>
          <p:cNvSpPr txBox="1"/>
          <p:nvPr/>
        </p:nvSpPr>
        <p:spPr>
          <a:xfrm>
            <a:off x="7159749" y="2286000"/>
            <a:ext cx="201168" cy="365760"/>
          </a:xfrm>
          <a:prstGeom prst="rect">
            <a:avLst/>
          </a:prstGeom>
          <a:noFill/>
        </p:spPr>
        <p:txBody>
          <a:bodyPr wrap="square" anchor="t" lIns="0" rIns="0" tIns="0" bIns="0">
            <a:spAutoFit/>
          </a:bodyPr>
          <a:lstStyle/>
          <a:p>
            <a:pPr algn="ctr"/>
            <a:r>
              <a:rPr sz="1200" b="0">
                <a:solidFill>
                  <a:srgbClr val="3EB8F0"/>
                </a:solidFill>
                <a:latin typeface="Consolas"/>
              </a:rPr>
              <a:t>▶</a:t>
            </a:r>
          </a:p>
        </p:txBody>
      </p:sp>
      <p:sp>
        <p:nvSpPr>
          <p:cNvPr id="26" name="Rectangle 25"/>
          <p:cNvSpPr/>
          <p:nvPr/>
        </p:nvSpPr>
        <p:spPr>
          <a:xfrm>
            <a:off x="7360917" y="1508760"/>
            <a:ext cx="2084831" cy="1874519"/>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60917" y="1508760"/>
            <a:ext cx="2084831" cy="82296"/>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25509" y="1691640"/>
            <a:ext cx="1755647" cy="457200"/>
          </a:xfrm>
          <a:prstGeom prst="rect">
            <a:avLst/>
          </a:prstGeom>
          <a:noFill/>
        </p:spPr>
        <p:txBody>
          <a:bodyPr wrap="square" anchor="t" lIns="0" rIns="0" tIns="0" bIns="0">
            <a:spAutoFit/>
          </a:bodyPr>
          <a:lstStyle/>
          <a:p>
            <a:pPr algn="l"/>
            <a:r>
              <a:rPr sz="2600" b="1">
                <a:solidFill>
                  <a:srgbClr val="3EB8F0"/>
                </a:solidFill>
                <a:latin typeface="Segoe UI"/>
              </a:rPr>
              <a:t>4</a:t>
            </a:r>
          </a:p>
        </p:txBody>
      </p:sp>
      <p:sp>
        <p:nvSpPr>
          <p:cNvPr id="29" name="TextBox 28"/>
          <p:cNvSpPr txBox="1"/>
          <p:nvPr/>
        </p:nvSpPr>
        <p:spPr>
          <a:xfrm>
            <a:off x="7525509" y="2240280"/>
            <a:ext cx="1755647" cy="320040"/>
          </a:xfrm>
          <a:prstGeom prst="rect">
            <a:avLst/>
          </a:prstGeom>
          <a:noFill/>
        </p:spPr>
        <p:txBody>
          <a:bodyPr wrap="square" anchor="t" lIns="0" rIns="0" tIns="0" bIns="0">
            <a:spAutoFit/>
          </a:bodyPr>
          <a:lstStyle/>
          <a:p>
            <a:pPr algn="l"/>
            <a:r>
              <a:rPr sz="1400" b="1">
                <a:solidFill>
                  <a:srgbClr val="F5F7FA"/>
                </a:solidFill>
                <a:latin typeface="Segoe UI"/>
              </a:rPr>
              <a:t>PRESENT</a:t>
            </a:r>
          </a:p>
        </p:txBody>
      </p:sp>
      <p:sp>
        <p:nvSpPr>
          <p:cNvPr id="30" name="TextBox 29"/>
          <p:cNvSpPr txBox="1"/>
          <p:nvPr/>
        </p:nvSpPr>
        <p:spPr>
          <a:xfrm>
            <a:off x="7525509" y="2606040"/>
            <a:ext cx="1755647" cy="731520"/>
          </a:xfrm>
          <a:prstGeom prst="rect">
            <a:avLst/>
          </a:prstGeom>
          <a:noFill/>
        </p:spPr>
        <p:txBody>
          <a:bodyPr wrap="square" anchor="t" lIns="0" rIns="0" tIns="0" bIns="0">
            <a:spAutoFit/>
          </a:bodyPr>
          <a:lstStyle/>
          <a:p>
            <a:pPr algn="l"/>
            <a:r>
              <a:rPr sz="1100" b="0">
                <a:solidFill>
                  <a:srgbClr val="9AB4CC"/>
                </a:solidFill>
                <a:latin typeface="Segoe UI"/>
              </a:rPr>
              <a:t>banner tables and ranked candidates</a:t>
            </a:r>
          </a:p>
        </p:txBody>
      </p:sp>
      <p:sp>
        <p:nvSpPr>
          <p:cNvPr id="31" name="TextBox 30"/>
          <p:cNvSpPr txBox="1"/>
          <p:nvPr/>
        </p:nvSpPr>
        <p:spPr>
          <a:xfrm>
            <a:off x="9445748" y="2286000"/>
            <a:ext cx="201168" cy="365760"/>
          </a:xfrm>
          <a:prstGeom prst="rect">
            <a:avLst/>
          </a:prstGeom>
          <a:noFill/>
        </p:spPr>
        <p:txBody>
          <a:bodyPr wrap="square" anchor="t" lIns="0" rIns="0" tIns="0" bIns="0">
            <a:spAutoFit/>
          </a:bodyPr>
          <a:lstStyle/>
          <a:p>
            <a:pPr algn="ctr"/>
            <a:r>
              <a:rPr sz="1200" b="0">
                <a:solidFill>
                  <a:srgbClr val="3EB8F0"/>
                </a:solidFill>
                <a:latin typeface="Consolas"/>
              </a:rPr>
              <a:t>▶</a:t>
            </a:r>
          </a:p>
        </p:txBody>
      </p:sp>
      <p:sp>
        <p:nvSpPr>
          <p:cNvPr id="32" name="Rectangle 31"/>
          <p:cNvSpPr/>
          <p:nvPr/>
        </p:nvSpPr>
        <p:spPr>
          <a:xfrm>
            <a:off x="9646916" y="1508760"/>
            <a:ext cx="2084831" cy="1874519"/>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46916" y="1508760"/>
            <a:ext cx="2084831" cy="82296"/>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11508" y="1691640"/>
            <a:ext cx="1755647" cy="457200"/>
          </a:xfrm>
          <a:prstGeom prst="rect">
            <a:avLst/>
          </a:prstGeom>
          <a:noFill/>
        </p:spPr>
        <p:txBody>
          <a:bodyPr wrap="square" anchor="t" lIns="0" rIns="0" tIns="0" bIns="0">
            <a:spAutoFit/>
          </a:bodyPr>
          <a:lstStyle/>
          <a:p>
            <a:pPr algn="l"/>
            <a:r>
              <a:rPr sz="2600" b="1">
                <a:solidFill>
                  <a:srgbClr val="3EB8F0"/>
                </a:solidFill>
                <a:latin typeface="Segoe UI"/>
              </a:rPr>
              <a:t>5</a:t>
            </a:r>
          </a:p>
        </p:txBody>
      </p:sp>
      <p:sp>
        <p:nvSpPr>
          <p:cNvPr id="35" name="TextBox 34"/>
          <p:cNvSpPr txBox="1"/>
          <p:nvPr/>
        </p:nvSpPr>
        <p:spPr>
          <a:xfrm>
            <a:off x="9811508" y="2240280"/>
            <a:ext cx="1755647" cy="320040"/>
          </a:xfrm>
          <a:prstGeom prst="rect">
            <a:avLst/>
          </a:prstGeom>
          <a:noFill/>
        </p:spPr>
        <p:txBody>
          <a:bodyPr wrap="square" anchor="t" lIns="0" rIns="0" tIns="0" bIns="0">
            <a:spAutoFit/>
          </a:bodyPr>
          <a:lstStyle/>
          <a:p>
            <a:pPr algn="l"/>
            <a:r>
              <a:rPr sz="1400" b="1">
                <a:solidFill>
                  <a:srgbClr val="F5F7FA"/>
                </a:solidFill>
                <a:latin typeface="Segoe UI"/>
              </a:rPr>
              <a:t>REPORT</a:t>
            </a:r>
          </a:p>
        </p:txBody>
      </p:sp>
      <p:sp>
        <p:nvSpPr>
          <p:cNvPr id="36" name="TextBox 35"/>
          <p:cNvSpPr txBox="1"/>
          <p:nvPr/>
        </p:nvSpPr>
        <p:spPr>
          <a:xfrm>
            <a:off x="9811508" y="2606040"/>
            <a:ext cx="1755647" cy="731520"/>
          </a:xfrm>
          <a:prstGeom prst="rect">
            <a:avLst/>
          </a:prstGeom>
          <a:noFill/>
        </p:spPr>
        <p:txBody>
          <a:bodyPr wrap="square" anchor="t" lIns="0" rIns="0" tIns="0" bIns="0">
            <a:spAutoFit/>
          </a:bodyPr>
          <a:lstStyle/>
          <a:p>
            <a:pPr algn="l"/>
            <a:r>
              <a:rPr sz="1100" b="0">
                <a:solidFill>
                  <a:srgbClr val="9AB4CC"/>
                </a:solidFill>
                <a:latin typeface="Segoe UI"/>
              </a:rPr>
              <a:t>Optional timestamped text report</a:t>
            </a:r>
          </a:p>
        </p:txBody>
      </p:sp>
      <p:sp>
        <p:nvSpPr>
          <p:cNvPr id="37" name="Rectangle 36"/>
          <p:cNvSpPr/>
          <p:nvPr/>
        </p:nvSpPr>
        <p:spPr>
          <a:xfrm>
            <a:off x="502920" y="3931920"/>
            <a:ext cx="11183112" cy="2194560"/>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4114800"/>
            <a:ext cx="10058400" cy="320040"/>
          </a:xfrm>
          <a:prstGeom prst="rect">
            <a:avLst/>
          </a:prstGeom>
          <a:noFill/>
        </p:spPr>
        <p:txBody>
          <a:bodyPr wrap="square" anchor="t" lIns="0" rIns="0" tIns="0" bIns="0">
            <a:spAutoFit/>
          </a:bodyPr>
          <a:lstStyle/>
          <a:p>
            <a:pPr algn="l"/>
            <a:r>
              <a:rPr sz="1300" b="1">
                <a:solidFill>
                  <a:srgbClr val="3EB8F0"/>
                </a:solidFill>
                <a:latin typeface="Segoe UI"/>
              </a:rPr>
              <a:t>ENGINEERING HIGHLIGHTS</a:t>
            </a:r>
          </a:p>
        </p:txBody>
      </p:sp>
      <p:sp>
        <p:nvSpPr>
          <p:cNvPr id="39" name="TextBox 38"/>
          <p:cNvSpPr txBox="1"/>
          <p:nvPr/>
        </p:nvSpPr>
        <p:spPr>
          <a:xfrm>
            <a:off x="777240" y="4526280"/>
            <a:ext cx="10607040" cy="1554480"/>
          </a:xfrm>
          <a:prstGeom prst="rect">
            <a:avLst/>
          </a:prstGeom>
          <a:noFill/>
        </p:spPr>
        <p:txBody>
          <a:bodyPr wrap="square" lIns="0" rIns="0" tIns="0" bIns="0">
            <a:spAutoFit/>
          </a:bodyPr>
          <a:lstStyle/>
          <a:p>
            <a:pPr algn="l">
              <a:spcAft>
                <a:spcPts val="800"/>
              </a:spcAft>
            </a:pPr>
            <a:r>
              <a:rPr sz="1250">
                <a:solidFill>
                  <a:srgbClr val="3EB8F0"/>
                </a:solidFill>
                <a:latin typeface="Segoe UI"/>
              </a:rPr>
              <a:t>•  </a:t>
            </a:r>
            <a:r>
              <a:rPr sz="1250" b="1">
                <a:solidFill>
                  <a:srgbClr val="F5F7FA"/>
                </a:solidFill>
                <a:latin typeface="Segoe UI"/>
              </a:rPr>
              <a:t>Never crashes on bad input: </a:t>
            </a:r>
            <a:r>
              <a:rPr sz="1250">
                <a:solidFill>
                  <a:srgbClr val="F5F7FA"/>
                </a:solidFill>
                <a:latin typeface="Segoe UI"/>
              </a:rPr>
              <a:t>invalid shifts, empty text and missing files produce friendly messages, not tracebacks</a:t>
            </a:r>
          </a:p>
          <a:p>
            <a:pPr algn="l">
              <a:spcAft>
                <a:spcPts val="800"/>
              </a:spcAft>
            </a:pPr>
            <a:r>
              <a:rPr sz="1250">
                <a:solidFill>
                  <a:srgbClr val="3EB8F0"/>
                </a:solidFill>
                <a:latin typeface="Segoe UI"/>
              </a:rPr>
              <a:t>•  </a:t>
            </a:r>
            <a:r>
              <a:rPr sz="1250" b="1">
                <a:solidFill>
                  <a:srgbClr val="F5F7FA"/>
                </a:solidFill>
                <a:latin typeface="Segoe UI"/>
              </a:rPr>
              <a:t>Idempotent files: </a:t>
            </a:r>
            <a:r>
              <a:rPr sz="1250">
                <a:solidFill>
                  <a:srgbClr val="F5F7FA"/>
                </a:solidFill>
                <a:latin typeface="Segoe UI"/>
              </a:rPr>
              <a:t>the source file is never modified without explicit --overwrite confirmation</a:t>
            </a:r>
          </a:p>
          <a:p>
            <a:pPr algn="l">
              <a:spcAft>
                <a:spcPts val="800"/>
              </a:spcAft>
            </a:pPr>
            <a:r>
              <a:rPr sz="1250">
                <a:solidFill>
                  <a:srgbClr val="3EB8F0"/>
                </a:solidFill>
                <a:latin typeface="Segoe UI"/>
              </a:rPr>
              <a:t>•  </a:t>
            </a:r>
            <a:r>
              <a:rPr sz="1250" b="1">
                <a:solidFill>
                  <a:srgbClr val="F5F7FA"/>
                </a:solidFill>
                <a:latin typeface="Segoe UI"/>
              </a:rPr>
              <a:t>Graceful EOF handling: </a:t>
            </a:r>
            <a:r>
              <a:rPr sz="1250">
                <a:solidFill>
                  <a:srgbClr val="F5F7FA"/>
                </a:solidFill>
                <a:latin typeface="Segoe UI"/>
              </a:rPr>
              <a:t>piped input or Ctrl+Z exits the menu cleanly</a:t>
            </a:r>
          </a:p>
        </p:txBody>
      </p:sp>
      <p:sp>
        <p:nvSpPr>
          <p:cNvPr id="40" name="TextBox 39"/>
          <p:cNvSpPr txBox="1"/>
          <p:nvPr/>
        </p:nvSpPr>
        <p:spPr>
          <a:xfrm>
            <a:off x="502920" y="6492240"/>
            <a:ext cx="10515600" cy="274320"/>
          </a:xfrm>
          <a:prstGeom prst="rect">
            <a:avLst/>
          </a:prstGeom>
          <a:noFill/>
        </p:spPr>
        <p:txBody>
          <a:bodyPr wrap="square" anchor="t" lIns="0" rIns="0" tIns="0" bIns="0">
            <a:spAutoFit/>
          </a:bodyPr>
          <a:lstStyle/>
          <a:p>
            <a:pPr algn="l"/>
            <a:r>
              <a:rPr sz="900" b="0">
                <a:solidFill>
                  <a:srgbClr val="9AB4CC"/>
                </a:solidFill>
                <a:latin typeface="Segoe UI"/>
              </a:rPr>
              <a:t>One pipeline serves both the interactive menu and the CLI commands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1750"/>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8686800" cy="274320"/>
          </a:xfrm>
          <a:prstGeom prst="rect">
            <a:avLst/>
          </a:prstGeom>
          <a:noFill/>
        </p:spPr>
        <p:txBody>
          <a:bodyPr wrap="square" anchor="t" lIns="0" rIns="0" tIns="0" bIns="0">
            <a:spAutoFit/>
          </a:bodyPr>
          <a:lstStyle/>
          <a:p>
            <a:pPr algn="l"/>
            <a:r>
              <a:rPr sz="1100" b="1">
                <a:solidFill>
                  <a:srgbClr val="3EB8F0"/>
                </a:solidFill>
                <a:latin typeface="Segoe UI"/>
              </a:rPr>
              <a:t>03 · CIPHERS IN ACTION</a:t>
            </a:r>
          </a:p>
        </p:txBody>
      </p:sp>
      <p:sp>
        <p:nvSpPr>
          <p:cNvPr id="5" name="TextBox 4"/>
          <p:cNvSpPr txBox="1"/>
          <p:nvPr/>
        </p:nvSpPr>
        <p:spPr>
          <a:xfrm>
            <a:off x="502920" y="347472"/>
            <a:ext cx="10515600" cy="548640"/>
          </a:xfrm>
          <a:prstGeom prst="rect">
            <a:avLst/>
          </a:prstGeom>
          <a:noFill/>
        </p:spPr>
        <p:txBody>
          <a:bodyPr wrap="square" anchor="t" lIns="0" rIns="0" tIns="0" bIns="0">
            <a:spAutoFit/>
          </a:bodyPr>
          <a:lstStyle/>
          <a:p>
            <a:pPr algn="l"/>
            <a:r>
              <a:rPr sz="2600" b="1">
                <a:solidFill>
                  <a:srgbClr val="F5F7FA"/>
                </a:solidFill>
                <a:latin typeface="Segoe UI"/>
              </a:rPr>
              <a:t>Caesar Cipher — Encryption &amp; Decryption</a:t>
            </a:r>
          </a:p>
        </p:txBody>
      </p:sp>
      <p:sp>
        <p:nvSpPr>
          <p:cNvPr id="6" name="Rectangle 5"/>
          <p:cNvSpPr/>
          <p:nvPr/>
        </p:nvSpPr>
        <p:spPr>
          <a:xfrm>
            <a:off x="11338560" y="274320"/>
            <a:ext cx="502920" cy="411480"/>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301752"/>
            <a:ext cx="502920" cy="365760"/>
          </a:xfrm>
          <a:prstGeom prst="rect">
            <a:avLst/>
          </a:prstGeom>
          <a:noFill/>
        </p:spPr>
        <p:txBody>
          <a:bodyPr wrap="square" anchor="t" lIns="0" rIns="0" tIns="0" bIns="0">
            <a:spAutoFit/>
          </a:bodyPr>
          <a:lstStyle/>
          <a:p>
            <a:pPr algn="ctr"/>
            <a:r>
              <a:rPr sz="1200" b="1">
                <a:solidFill>
                  <a:srgbClr val="3EB8F0"/>
                </a:solidFill>
                <a:latin typeface="Consolas"/>
              </a:rPr>
              <a:t>07</a:t>
            </a:r>
          </a:p>
        </p:txBody>
      </p:sp>
      <p:sp>
        <p:nvSpPr>
          <p:cNvPr id="8" name="TextBox 7"/>
          <p:cNvSpPr txBox="1"/>
          <p:nvPr/>
        </p:nvSpPr>
        <p:spPr>
          <a:xfrm>
            <a:off x="502920" y="1371600"/>
            <a:ext cx="5989320" cy="4389120"/>
          </a:xfrm>
          <a:prstGeom prst="rect">
            <a:avLst/>
          </a:prstGeom>
          <a:noFill/>
        </p:spPr>
        <p:txBody>
          <a:bodyPr wrap="square" lIns="0" rIns="0" tIns="0" bIns="0">
            <a:spAutoFit/>
          </a:bodyPr>
          <a:lstStyle/>
          <a:p>
            <a:pPr algn="l">
              <a:spcAft>
                <a:spcPts val="1200"/>
              </a:spcAft>
            </a:pPr>
            <a:r>
              <a:rPr sz="1350">
                <a:solidFill>
                  <a:srgbClr val="3EB8F0"/>
                </a:solidFill>
                <a:latin typeface="Segoe UI"/>
              </a:rPr>
              <a:t>•  </a:t>
            </a:r>
            <a:r>
              <a:rPr sz="1350" b="1">
                <a:solidFill>
                  <a:srgbClr val="F5F7FA"/>
                </a:solidFill>
                <a:latin typeface="Segoe UI"/>
              </a:rPr>
              <a:t>Mechanics: </a:t>
            </a:r>
            <a:r>
              <a:rPr sz="1350">
                <a:solidFill>
                  <a:srgbClr val="F5F7FA"/>
                </a:solidFill>
                <a:latin typeface="Segoe UI"/>
              </a:rPr>
              <a:t>every letter shifts by a fixed amount (mod 26); case, digits and punctuation are preserved</a:t>
            </a:r>
          </a:p>
          <a:p>
            <a:pPr algn="l">
              <a:spcAft>
                <a:spcPts val="1200"/>
              </a:spcAft>
            </a:pPr>
            <a:r>
              <a:rPr sz="1350">
                <a:solidFill>
                  <a:srgbClr val="3EB8F0"/>
                </a:solidFill>
                <a:latin typeface="Segoe UI"/>
              </a:rPr>
              <a:t>•  </a:t>
            </a:r>
            <a:r>
              <a:rPr sz="1350" b="1">
                <a:solidFill>
                  <a:srgbClr val="F5F7FA"/>
                </a:solidFill>
                <a:latin typeface="Segoe UI"/>
              </a:rPr>
              <a:t>Example: </a:t>
            </a:r>
            <a:r>
              <a:rPr sz="1350">
                <a:solidFill>
                  <a:srgbClr val="F5F7FA"/>
                </a:solidFill>
                <a:latin typeface="Segoe UI"/>
              </a:rPr>
              <a:t>“HELLO WORLD” + shift 3 → “KHOOR ZRUOG”</a:t>
            </a:r>
          </a:p>
          <a:p>
            <a:pPr algn="l">
              <a:spcAft>
                <a:spcPts val="1200"/>
              </a:spcAft>
            </a:pPr>
            <a:r>
              <a:rPr sz="1350">
                <a:solidFill>
                  <a:srgbClr val="3EB8F0"/>
                </a:solidFill>
                <a:latin typeface="Segoe UI"/>
              </a:rPr>
              <a:t>•  </a:t>
            </a:r>
            <a:r>
              <a:rPr sz="1350" b="1">
                <a:solidFill>
                  <a:srgbClr val="F5F7FA"/>
                </a:solidFill>
                <a:latin typeface="Segoe UI"/>
              </a:rPr>
              <a:t>CLI: </a:t>
            </a:r>
            <a:r>
              <a:rPr sz="1350">
                <a:solidFill>
                  <a:srgbClr val="F5F7FA"/>
                </a:solidFill>
                <a:latin typeface="Segoe UI"/>
              </a:rPr>
              <a:t>python main.py caesar-encrypt --text "HELLO WORLD" --shift 3</a:t>
            </a:r>
          </a:p>
          <a:p>
            <a:pPr algn="l">
              <a:spcAft>
                <a:spcPts val="1200"/>
              </a:spcAft>
            </a:pPr>
            <a:r>
              <a:rPr sz="1350">
                <a:solidFill>
                  <a:srgbClr val="3EB8F0"/>
                </a:solidFill>
                <a:latin typeface="Segoe UI"/>
              </a:rPr>
              <a:t>•  </a:t>
            </a:r>
            <a:r>
              <a:rPr sz="1350" b="1">
                <a:solidFill>
                  <a:srgbClr val="F5F7FA"/>
                </a:solidFill>
                <a:latin typeface="Segoe UI"/>
              </a:rPr>
              <a:t>Extras: </a:t>
            </a:r>
            <a:r>
              <a:rPr sz="1350">
                <a:solidFill>
                  <a:srgbClr val="F5F7FA"/>
                </a:solidFill>
                <a:latin typeface="Segoe UI"/>
              </a:rPr>
              <a:t>menu option 1, negative shifts, input from file, --report output</a:t>
            </a:r>
          </a:p>
          <a:p>
            <a:pPr algn="l">
              <a:spcAft>
                <a:spcPts val="1200"/>
              </a:spcAft>
            </a:pPr>
            <a:r>
              <a:rPr sz="1350">
                <a:solidFill>
                  <a:srgbClr val="3EB8F0"/>
                </a:solidFill>
                <a:latin typeface="Segoe UI"/>
              </a:rPr>
              <a:t>•  </a:t>
            </a:r>
            <a:r>
              <a:rPr sz="1350" b="1">
                <a:solidFill>
                  <a:srgbClr val="F5F7FA"/>
                </a:solidFill>
                <a:latin typeface="Segoe UI"/>
              </a:rPr>
              <a:t>Keyspace: </a:t>
            </a:r>
            <a:r>
              <a:rPr sz="1350">
                <a:solidFill>
                  <a:srgbClr val="F5F7FA"/>
                </a:solidFill>
                <a:latin typeface="Segoe UI"/>
              </a:rPr>
              <a:t>only 25 effective keys — the fatal weakness exploited on slide 11</a:t>
            </a:r>
          </a:p>
        </p:txBody>
      </p:sp>
      <p:sp>
        <p:nvSpPr>
          <p:cNvPr id="9" name="Rectangle 8"/>
          <p:cNvSpPr/>
          <p:nvPr/>
        </p:nvSpPr>
        <p:spPr>
          <a:xfrm>
            <a:off x="7037653" y="1316355"/>
            <a:ext cx="4395573" cy="2442210"/>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04_caesar_1.png"/>
          <p:cNvPicPr>
            <a:picLocks noChangeAspect="1"/>
          </p:cNvPicPr>
          <p:nvPr/>
        </p:nvPicPr>
        <p:blipFill>
          <a:blip r:embed="rId2"/>
          <a:stretch>
            <a:fillRect/>
          </a:stretch>
        </p:blipFill>
        <p:spPr>
          <a:xfrm>
            <a:off x="7047178" y="1325880"/>
            <a:ext cx="4376523" cy="2423160"/>
          </a:xfrm>
          <a:prstGeom prst="rect">
            <a:avLst/>
          </a:prstGeom>
        </p:spPr>
      </p:pic>
      <p:sp>
        <p:nvSpPr>
          <p:cNvPr id="11" name="Rectangle 10"/>
          <p:cNvSpPr/>
          <p:nvPr/>
        </p:nvSpPr>
        <p:spPr>
          <a:xfrm>
            <a:off x="6711315" y="3891140"/>
            <a:ext cx="5048250" cy="2093239"/>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04_caesar_2.png"/>
          <p:cNvPicPr>
            <a:picLocks noChangeAspect="1"/>
          </p:cNvPicPr>
          <p:nvPr/>
        </p:nvPicPr>
        <p:blipFill>
          <a:blip r:embed="rId3"/>
          <a:stretch>
            <a:fillRect/>
          </a:stretch>
        </p:blipFill>
        <p:spPr>
          <a:xfrm>
            <a:off x="6720840" y="3900665"/>
            <a:ext cx="5029200" cy="2074189"/>
          </a:xfrm>
          <a:prstGeom prst="rect">
            <a:avLst/>
          </a:prstGeom>
        </p:spPr>
      </p:pic>
      <p:sp>
        <p:nvSpPr>
          <p:cNvPr id="13" name="TextBox 12"/>
          <p:cNvSpPr txBox="1"/>
          <p:nvPr/>
        </p:nvSpPr>
        <p:spPr>
          <a:xfrm>
            <a:off x="502920" y="6492240"/>
            <a:ext cx="10515600" cy="274320"/>
          </a:xfrm>
          <a:prstGeom prst="rect">
            <a:avLst/>
          </a:prstGeom>
          <a:noFill/>
        </p:spPr>
        <p:txBody>
          <a:bodyPr wrap="square" anchor="t" lIns="0" rIns="0" tIns="0" bIns="0">
            <a:spAutoFit/>
          </a:bodyPr>
          <a:lstStyle/>
          <a:p>
            <a:pPr algn="l"/>
            <a:r>
              <a:rPr sz="900" b="0">
                <a:solidFill>
                  <a:srgbClr val="9AB4CC"/>
                </a:solidFill>
                <a:latin typeface="Segoe UI"/>
              </a:rPr>
              <a:t>Screenshots: Caesar encryption and decryption from the command 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1750"/>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8686800" cy="274320"/>
          </a:xfrm>
          <a:prstGeom prst="rect">
            <a:avLst/>
          </a:prstGeom>
          <a:noFill/>
        </p:spPr>
        <p:txBody>
          <a:bodyPr wrap="square" anchor="t" lIns="0" rIns="0" tIns="0" bIns="0">
            <a:spAutoFit/>
          </a:bodyPr>
          <a:lstStyle/>
          <a:p>
            <a:pPr algn="l"/>
            <a:r>
              <a:rPr sz="1100" b="1">
                <a:solidFill>
                  <a:srgbClr val="3EB8F0"/>
                </a:solidFill>
                <a:latin typeface="Segoe UI"/>
              </a:rPr>
              <a:t>03 · CIPHERS IN ACTION</a:t>
            </a:r>
          </a:p>
        </p:txBody>
      </p:sp>
      <p:sp>
        <p:nvSpPr>
          <p:cNvPr id="5" name="TextBox 4"/>
          <p:cNvSpPr txBox="1"/>
          <p:nvPr/>
        </p:nvSpPr>
        <p:spPr>
          <a:xfrm>
            <a:off x="502920" y="347472"/>
            <a:ext cx="10515600" cy="548640"/>
          </a:xfrm>
          <a:prstGeom prst="rect">
            <a:avLst/>
          </a:prstGeom>
          <a:noFill/>
        </p:spPr>
        <p:txBody>
          <a:bodyPr wrap="square" anchor="t" lIns="0" rIns="0" tIns="0" bIns="0">
            <a:spAutoFit/>
          </a:bodyPr>
          <a:lstStyle/>
          <a:p>
            <a:pPr algn="l"/>
            <a:r>
              <a:rPr sz="2600" b="1">
                <a:solidFill>
                  <a:srgbClr val="F5F7FA"/>
                </a:solidFill>
                <a:latin typeface="Segoe UI"/>
              </a:rPr>
              <a:t>Vigenère Cipher — Polyalphabetic Layer</a:t>
            </a:r>
          </a:p>
        </p:txBody>
      </p:sp>
      <p:sp>
        <p:nvSpPr>
          <p:cNvPr id="6" name="Rectangle 5"/>
          <p:cNvSpPr/>
          <p:nvPr/>
        </p:nvSpPr>
        <p:spPr>
          <a:xfrm>
            <a:off x="11338560" y="274320"/>
            <a:ext cx="502920" cy="411480"/>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301752"/>
            <a:ext cx="502920" cy="365760"/>
          </a:xfrm>
          <a:prstGeom prst="rect">
            <a:avLst/>
          </a:prstGeom>
          <a:noFill/>
        </p:spPr>
        <p:txBody>
          <a:bodyPr wrap="square" anchor="t" lIns="0" rIns="0" tIns="0" bIns="0">
            <a:spAutoFit/>
          </a:bodyPr>
          <a:lstStyle/>
          <a:p>
            <a:pPr algn="ctr"/>
            <a:r>
              <a:rPr sz="1200" b="1">
                <a:solidFill>
                  <a:srgbClr val="3EB8F0"/>
                </a:solidFill>
                <a:latin typeface="Consolas"/>
              </a:rPr>
              <a:t>08</a:t>
            </a:r>
          </a:p>
        </p:txBody>
      </p:sp>
      <p:sp>
        <p:nvSpPr>
          <p:cNvPr id="8" name="TextBox 7"/>
          <p:cNvSpPr txBox="1"/>
          <p:nvPr/>
        </p:nvSpPr>
        <p:spPr>
          <a:xfrm>
            <a:off x="502920" y="1371600"/>
            <a:ext cx="5989320" cy="4389120"/>
          </a:xfrm>
          <a:prstGeom prst="rect">
            <a:avLst/>
          </a:prstGeom>
          <a:noFill/>
        </p:spPr>
        <p:txBody>
          <a:bodyPr wrap="square" lIns="0" rIns="0" tIns="0" bIns="0">
            <a:spAutoFit/>
          </a:bodyPr>
          <a:lstStyle/>
          <a:p>
            <a:pPr algn="l">
              <a:spcAft>
                <a:spcPts val="1200"/>
              </a:spcAft>
            </a:pPr>
            <a:r>
              <a:rPr sz="1350">
                <a:solidFill>
                  <a:srgbClr val="3EB8F0"/>
                </a:solidFill>
                <a:latin typeface="Segoe UI"/>
              </a:rPr>
              <a:t>•  </a:t>
            </a:r>
            <a:r>
              <a:rPr sz="1350" b="1">
                <a:solidFill>
                  <a:srgbClr val="F5F7FA"/>
                </a:solidFill>
                <a:latin typeface="Segoe UI"/>
              </a:rPr>
              <a:t>Mechanics: </a:t>
            </a:r>
            <a:r>
              <a:rPr sz="1350">
                <a:solidFill>
                  <a:srgbClr val="F5F7FA"/>
                </a:solidFill>
                <a:latin typeface="Segoe UI"/>
              </a:rPr>
              <a:t>a repeating keyword picks a different Caesar shift for every letter</a:t>
            </a:r>
          </a:p>
          <a:p>
            <a:pPr algn="l">
              <a:spcAft>
                <a:spcPts val="1200"/>
              </a:spcAft>
            </a:pPr>
            <a:r>
              <a:rPr sz="1350">
                <a:solidFill>
                  <a:srgbClr val="3EB8F0"/>
                </a:solidFill>
                <a:latin typeface="Segoe UI"/>
              </a:rPr>
              <a:t>•  </a:t>
            </a:r>
            <a:r>
              <a:rPr sz="1350" b="1">
                <a:solidFill>
                  <a:srgbClr val="F5F7FA"/>
                </a:solidFill>
                <a:latin typeface="Segoe UI"/>
              </a:rPr>
              <a:t>Example: </a:t>
            </a:r>
            <a:r>
              <a:rPr sz="1350">
                <a:solidFill>
                  <a:srgbClr val="F5F7FA"/>
                </a:solidFill>
                <a:latin typeface="Segoe UI"/>
              </a:rPr>
              <a:t>ATTACKATDAWN + key LEMON → LXFOPVEFRNHR (classic reference example)</a:t>
            </a:r>
          </a:p>
          <a:p>
            <a:pPr algn="l">
              <a:spcAft>
                <a:spcPts val="1200"/>
              </a:spcAft>
            </a:pPr>
            <a:r>
              <a:rPr sz="1350">
                <a:solidFill>
                  <a:srgbClr val="3EB8F0"/>
                </a:solidFill>
                <a:latin typeface="Segoe UI"/>
              </a:rPr>
              <a:t>•  </a:t>
            </a:r>
            <a:r>
              <a:rPr sz="1350" b="1">
                <a:solidFill>
                  <a:srgbClr val="F5F7FA"/>
                </a:solidFill>
                <a:latin typeface="Segoe UI"/>
              </a:rPr>
              <a:t>CLI: </a:t>
            </a:r>
            <a:r>
              <a:rPr sz="1350">
                <a:solidFill>
                  <a:srgbClr val="F5F7FA"/>
                </a:solidFill>
                <a:latin typeface="Segoe UI"/>
              </a:rPr>
              <a:t>python main.py vigenere-encrypt --text ... --key LEMON</a:t>
            </a:r>
          </a:p>
          <a:p>
            <a:pPr algn="l">
              <a:spcAft>
                <a:spcPts val="1200"/>
              </a:spcAft>
            </a:pPr>
            <a:r>
              <a:rPr sz="1350">
                <a:solidFill>
                  <a:srgbClr val="3EB8F0"/>
                </a:solidFill>
                <a:latin typeface="Segoe UI"/>
              </a:rPr>
              <a:t>•  </a:t>
            </a:r>
            <a:r>
              <a:rPr sz="1350" b="1">
                <a:solidFill>
                  <a:srgbClr val="F5F7FA"/>
                </a:solidFill>
                <a:latin typeface="Segoe UI"/>
              </a:rPr>
              <a:t>Strength over Caesar: </a:t>
            </a:r>
            <a:r>
              <a:rPr sz="1350">
                <a:solidFill>
                  <a:srgbClr val="F5F7FA"/>
                </a:solidFill>
                <a:latin typeface="Segoe UI"/>
              </a:rPr>
              <a:t>flattens single-letter frequencies — naive frequency analysis fails</a:t>
            </a:r>
          </a:p>
          <a:p>
            <a:pPr algn="l">
              <a:spcAft>
                <a:spcPts val="1200"/>
              </a:spcAft>
            </a:pPr>
            <a:r>
              <a:rPr sz="1350">
                <a:solidFill>
                  <a:srgbClr val="3EB8F0"/>
                </a:solidFill>
                <a:latin typeface="Segoe UI"/>
              </a:rPr>
              <a:t>•  </a:t>
            </a:r>
            <a:r>
              <a:rPr sz="1350" b="1">
                <a:solidFill>
                  <a:srgbClr val="F5F7FA"/>
                </a:solidFill>
                <a:latin typeface="Segoe UI"/>
              </a:rPr>
              <a:t>Hidden flaw: </a:t>
            </a:r>
            <a:r>
              <a:rPr sz="1350">
                <a:solidFill>
                  <a:srgbClr val="F5F7FA"/>
                </a:solidFill>
                <a:latin typeface="Segoe UI"/>
              </a:rPr>
              <a:t>the key repeats, and that repetition leaks structure (slide 13)</a:t>
            </a:r>
          </a:p>
        </p:txBody>
      </p:sp>
      <p:sp>
        <p:nvSpPr>
          <p:cNvPr id="9" name="Rectangle 8"/>
          <p:cNvSpPr/>
          <p:nvPr/>
        </p:nvSpPr>
        <p:spPr>
          <a:xfrm>
            <a:off x="6985110" y="1316355"/>
            <a:ext cx="4500659" cy="2442210"/>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05_vigenere_1.png"/>
          <p:cNvPicPr>
            <a:picLocks noChangeAspect="1"/>
          </p:cNvPicPr>
          <p:nvPr/>
        </p:nvPicPr>
        <p:blipFill>
          <a:blip r:embed="rId2"/>
          <a:stretch>
            <a:fillRect/>
          </a:stretch>
        </p:blipFill>
        <p:spPr>
          <a:xfrm>
            <a:off x="6994635" y="1325880"/>
            <a:ext cx="4481609" cy="2423160"/>
          </a:xfrm>
          <a:prstGeom prst="rect">
            <a:avLst/>
          </a:prstGeom>
        </p:spPr>
      </p:pic>
      <p:sp>
        <p:nvSpPr>
          <p:cNvPr id="11" name="Rectangle 10"/>
          <p:cNvSpPr/>
          <p:nvPr/>
        </p:nvSpPr>
        <p:spPr>
          <a:xfrm>
            <a:off x="6929587" y="3876675"/>
            <a:ext cx="4611706" cy="2122170"/>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05_vigenere_2.png"/>
          <p:cNvPicPr>
            <a:picLocks noChangeAspect="1"/>
          </p:cNvPicPr>
          <p:nvPr/>
        </p:nvPicPr>
        <p:blipFill>
          <a:blip r:embed="rId3"/>
          <a:stretch>
            <a:fillRect/>
          </a:stretch>
        </p:blipFill>
        <p:spPr>
          <a:xfrm>
            <a:off x="6939112" y="3886200"/>
            <a:ext cx="4592656" cy="2103120"/>
          </a:xfrm>
          <a:prstGeom prst="rect">
            <a:avLst/>
          </a:prstGeom>
        </p:spPr>
      </p:pic>
      <p:sp>
        <p:nvSpPr>
          <p:cNvPr id="13" name="TextBox 12"/>
          <p:cNvSpPr txBox="1"/>
          <p:nvPr/>
        </p:nvSpPr>
        <p:spPr>
          <a:xfrm>
            <a:off x="502920" y="6492240"/>
            <a:ext cx="10515600" cy="274320"/>
          </a:xfrm>
          <a:prstGeom prst="rect">
            <a:avLst/>
          </a:prstGeom>
          <a:noFill/>
        </p:spPr>
        <p:txBody>
          <a:bodyPr wrap="square" anchor="t" lIns="0" rIns="0" tIns="0" bIns="0">
            <a:spAutoFit/>
          </a:bodyPr>
          <a:lstStyle/>
          <a:p>
            <a:pPr algn="l"/>
            <a:r>
              <a:rPr sz="900" b="0">
                <a:solidFill>
                  <a:srgbClr val="9AB4CC"/>
                </a:solidFill>
                <a:latin typeface="Segoe UI"/>
              </a:rPr>
              <a:t>Screenshots: Vigenère encryption with key LEMON and the matching decryption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1750"/>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8686800" cy="274320"/>
          </a:xfrm>
          <a:prstGeom prst="rect">
            <a:avLst/>
          </a:prstGeom>
          <a:noFill/>
        </p:spPr>
        <p:txBody>
          <a:bodyPr wrap="square" anchor="t" lIns="0" rIns="0" tIns="0" bIns="0">
            <a:spAutoFit/>
          </a:bodyPr>
          <a:lstStyle/>
          <a:p>
            <a:pPr algn="l"/>
            <a:r>
              <a:rPr sz="1100" b="1">
                <a:solidFill>
                  <a:srgbClr val="3EB8F0"/>
                </a:solidFill>
                <a:latin typeface="Segoe UI"/>
              </a:rPr>
              <a:t>03 · CIPHERS IN ACTION</a:t>
            </a:r>
          </a:p>
        </p:txBody>
      </p:sp>
      <p:sp>
        <p:nvSpPr>
          <p:cNvPr id="5" name="TextBox 4"/>
          <p:cNvSpPr txBox="1"/>
          <p:nvPr/>
        </p:nvSpPr>
        <p:spPr>
          <a:xfrm>
            <a:off x="502920" y="347472"/>
            <a:ext cx="10515600" cy="548640"/>
          </a:xfrm>
          <a:prstGeom prst="rect">
            <a:avLst/>
          </a:prstGeom>
          <a:noFill/>
        </p:spPr>
        <p:txBody>
          <a:bodyPr wrap="square" anchor="t" lIns="0" rIns="0" tIns="0" bIns="0">
            <a:spAutoFit/>
          </a:bodyPr>
          <a:lstStyle/>
          <a:p>
            <a:pPr algn="l"/>
            <a:r>
              <a:rPr sz="2600" b="1">
                <a:solidFill>
                  <a:srgbClr val="F5F7FA"/>
                </a:solidFill>
                <a:latin typeface="Segoe UI"/>
              </a:rPr>
              <a:t>Interactive Menu Mode</a:t>
            </a:r>
          </a:p>
        </p:txBody>
      </p:sp>
      <p:sp>
        <p:nvSpPr>
          <p:cNvPr id="6" name="Rectangle 5"/>
          <p:cNvSpPr/>
          <p:nvPr/>
        </p:nvSpPr>
        <p:spPr>
          <a:xfrm>
            <a:off x="11338560" y="274320"/>
            <a:ext cx="502920" cy="411480"/>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301752"/>
            <a:ext cx="502920" cy="365760"/>
          </a:xfrm>
          <a:prstGeom prst="rect">
            <a:avLst/>
          </a:prstGeom>
          <a:noFill/>
        </p:spPr>
        <p:txBody>
          <a:bodyPr wrap="square" anchor="t" lIns="0" rIns="0" tIns="0" bIns="0">
            <a:spAutoFit/>
          </a:bodyPr>
          <a:lstStyle/>
          <a:p>
            <a:pPr algn="ctr"/>
            <a:r>
              <a:rPr sz="1200" b="1">
                <a:solidFill>
                  <a:srgbClr val="3EB8F0"/>
                </a:solidFill>
                <a:latin typeface="Consolas"/>
              </a:rPr>
              <a:t>09</a:t>
            </a:r>
          </a:p>
        </p:txBody>
      </p:sp>
      <p:sp>
        <p:nvSpPr>
          <p:cNvPr id="8" name="TextBox 7"/>
          <p:cNvSpPr txBox="1"/>
          <p:nvPr/>
        </p:nvSpPr>
        <p:spPr>
          <a:xfrm>
            <a:off x="502920" y="1371600"/>
            <a:ext cx="5989320" cy="4389120"/>
          </a:xfrm>
          <a:prstGeom prst="rect">
            <a:avLst/>
          </a:prstGeom>
          <a:noFill/>
        </p:spPr>
        <p:txBody>
          <a:bodyPr wrap="square" lIns="0" rIns="0" tIns="0" bIns="0">
            <a:spAutoFit/>
          </a:bodyPr>
          <a:lstStyle/>
          <a:p>
            <a:pPr algn="l">
              <a:spcAft>
                <a:spcPts val="1200"/>
              </a:spcAft>
            </a:pPr>
            <a:r>
              <a:rPr sz="1350">
                <a:solidFill>
                  <a:srgbClr val="3EB8F0"/>
                </a:solidFill>
                <a:latin typeface="Segoe UI"/>
              </a:rPr>
              <a:t>•  </a:t>
            </a:r>
            <a:r>
              <a:rPr sz="1350" b="1">
                <a:solidFill>
                  <a:srgbClr val="F5F7FA"/>
                </a:solidFill>
                <a:latin typeface="Segoe UI"/>
              </a:rPr>
              <a:t>Nine options </a:t>
            </a:r>
            <a:r>
              <a:rPr sz="1350">
                <a:solidFill>
                  <a:srgbClr val="F5F7FA"/>
                </a:solidFill>
                <a:latin typeface="Segoe UI"/>
              </a:rPr>
              <a:t>covering ciphers, analyses, files, security and help</a:t>
            </a:r>
          </a:p>
          <a:p>
            <a:pPr algn="l">
              <a:spcAft>
                <a:spcPts val="1200"/>
              </a:spcAft>
            </a:pPr>
            <a:r>
              <a:rPr sz="1350">
                <a:solidFill>
                  <a:srgbClr val="3EB8F0"/>
                </a:solidFill>
                <a:latin typeface="Segoe UI"/>
              </a:rPr>
              <a:t>•  </a:t>
            </a:r>
            <a:r>
              <a:rPr sz="1350" b="1">
                <a:solidFill>
                  <a:srgbClr val="F5F7FA"/>
                </a:solidFill>
                <a:latin typeface="Segoe UI"/>
              </a:rPr>
              <a:t>Guided prompts </a:t>
            </a:r>
            <a:r>
              <a:rPr sz="1350">
                <a:solidFill>
                  <a:srgbClr val="F5F7FA"/>
                </a:solidFill>
                <a:latin typeface="Segoe UI"/>
              </a:rPr>
              <a:t>validate every input and re-ask on mistakes — cannot be crashed</a:t>
            </a:r>
          </a:p>
          <a:p>
            <a:pPr algn="l">
              <a:spcAft>
                <a:spcPts val="1200"/>
              </a:spcAft>
            </a:pPr>
            <a:r>
              <a:rPr sz="1350">
                <a:solidFill>
                  <a:srgbClr val="3EB8F0"/>
                </a:solidFill>
                <a:latin typeface="Segoe UI"/>
              </a:rPr>
              <a:t>•  </a:t>
            </a:r>
            <a:r>
              <a:rPr sz="1350" b="1">
                <a:solidFill>
                  <a:srgbClr val="F5F7FA"/>
                </a:solidFill>
                <a:latin typeface="Segoe UI"/>
              </a:rPr>
              <a:t>Submenus </a:t>
            </a:r>
            <a:r>
              <a:rPr sz="1350">
                <a:solidFill>
                  <a:srgbClr val="F5F7FA"/>
                </a:solidFill>
                <a:latin typeface="Segoe UI"/>
              </a:rPr>
              <a:t>choose the source: type text or read from a file</a:t>
            </a:r>
          </a:p>
          <a:p>
            <a:pPr algn="l">
              <a:spcAft>
                <a:spcPts val="1200"/>
              </a:spcAft>
            </a:pPr>
            <a:r>
              <a:rPr sz="1350">
                <a:solidFill>
                  <a:srgbClr val="3EB8F0"/>
                </a:solidFill>
                <a:latin typeface="Segoe UI"/>
              </a:rPr>
              <a:t>•  </a:t>
            </a:r>
            <a:r>
              <a:rPr sz="1350" b="1">
                <a:solidFill>
                  <a:srgbClr val="F5F7FA"/>
                </a:solidFill>
                <a:latin typeface="Segoe UI"/>
              </a:rPr>
              <a:t>Report prompts </a:t>
            </a:r>
            <a:r>
              <a:rPr sz="1350">
                <a:solidFill>
                  <a:srgbClr val="F5F7FA"/>
                </a:solidFill>
                <a:latin typeface="Segoe UI"/>
              </a:rPr>
              <a:t>offer to save every analysis as a text file</a:t>
            </a:r>
          </a:p>
          <a:p>
            <a:pPr algn="l">
              <a:spcAft>
                <a:spcPts val="1200"/>
              </a:spcAft>
            </a:pPr>
            <a:r>
              <a:rPr sz="1350">
                <a:solidFill>
                  <a:srgbClr val="3EB8F0"/>
                </a:solidFill>
                <a:latin typeface="Segoe UI"/>
              </a:rPr>
              <a:t>•  </a:t>
            </a:r>
            <a:r>
              <a:rPr sz="1350" b="1">
                <a:solidFill>
                  <a:srgbClr val="F5F7FA"/>
                </a:solidFill>
                <a:latin typeface="Segoe UI"/>
              </a:rPr>
              <a:t>Crash-proof loop </a:t>
            </a:r>
            <a:r>
              <a:rPr sz="1350">
                <a:solidFill>
                  <a:srgbClr val="F5F7FA"/>
                </a:solidFill>
                <a:latin typeface="Segoe UI"/>
              </a:rPr>
              <a:t>invalid choices and end-of-input are handled without tracebacks</a:t>
            </a:r>
          </a:p>
        </p:txBody>
      </p:sp>
      <p:sp>
        <p:nvSpPr>
          <p:cNvPr id="9" name="Rectangle 8"/>
          <p:cNvSpPr/>
          <p:nvPr/>
        </p:nvSpPr>
        <p:spPr>
          <a:xfrm>
            <a:off x="7023042" y="1316355"/>
            <a:ext cx="4424795" cy="2442210"/>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06_interactive_menu_1.png"/>
          <p:cNvPicPr>
            <a:picLocks noChangeAspect="1"/>
          </p:cNvPicPr>
          <p:nvPr/>
        </p:nvPicPr>
        <p:blipFill>
          <a:blip r:embed="rId2"/>
          <a:stretch>
            <a:fillRect/>
          </a:stretch>
        </p:blipFill>
        <p:spPr>
          <a:xfrm>
            <a:off x="7032567" y="1325880"/>
            <a:ext cx="4405745" cy="2423160"/>
          </a:xfrm>
          <a:prstGeom prst="rect">
            <a:avLst/>
          </a:prstGeom>
        </p:spPr>
      </p:pic>
      <p:sp>
        <p:nvSpPr>
          <p:cNvPr id="11" name="Rectangle 10"/>
          <p:cNvSpPr/>
          <p:nvPr/>
        </p:nvSpPr>
        <p:spPr>
          <a:xfrm>
            <a:off x="7326669" y="3876675"/>
            <a:ext cx="3817542" cy="2122170"/>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06_interactive_menu_2.png"/>
          <p:cNvPicPr>
            <a:picLocks noChangeAspect="1"/>
          </p:cNvPicPr>
          <p:nvPr/>
        </p:nvPicPr>
        <p:blipFill>
          <a:blip r:embed="rId3"/>
          <a:stretch>
            <a:fillRect/>
          </a:stretch>
        </p:blipFill>
        <p:spPr>
          <a:xfrm>
            <a:off x="7336194" y="3886200"/>
            <a:ext cx="3798492" cy="2103120"/>
          </a:xfrm>
          <a:prstGeom prst="rect">
            <a:avLst/>
          </a:prstGeom>
        </p:spPr>
      </p:pic>
      <p:sp>
        <p:nvSpPr>
          <p:cNvPr id="13" name="TextBox 12"/>
          <p:cNvSpPr txBox="1"/>
          <p:nvPr/>
        </p:nvSpPr>
        <p:spPr>
          <a:xfrm>
            <a:off x="502920" y="6492240"/>
            <a:ext cx="10515600" cy="274320"/>
          </a:xfrm>
          <a:prstGeom prst="rect">
            <a:avLst/>
          </a:prstGeom>
          <a:noFill/>
        </p:spPr>
        <p:txBody>
          <a:bodyPr wrap="square" anchor="t" lIns="0" rIns="0" tIns="0" bIns="0">
            <a:spAutoFit/>
          </a:bodyPr>
          <a:lstStyle/>
          <a:p>
            <a:pPr algn="l"/>
            <a:r>
              <a:rPr sz="900" b="0">
                <a:solidFill>
                  <a:srgbClr val="9AB4CC"/>
                </a:solidFill>
                <a:latin typeface="Segoe UI"/>
              </a:rPr>
              <a:t>Screenshots: banner, main menu and a guided Caesar session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1750"/>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8686800" cy="274320"/>
          </a:xfrm>
          <a:prstGeom prst="rect">
            <a:avLst/>
          </a:prstGeom>
          <a:noFill/>
        </p:spPr>
        <p:txBody>
          <a:bodyPr wrap="square" anchor="t" lIns="0" rIns="0" tIns="0" bIns="0">
            <a:spAutoFit/>
          </a:bodyPr>
          <a:lstStyle/>
          <a:p>
            <a:pPr algn="l"/>
            <a:r>
              <a:rPr sz="1100" b="1">
                <a:solidFill>
                  <a:srgbClr val="3EB8F0"/>
                </a:solidFill>
                <a:latin typeface="Segoe UI"/>
              </a:rPr>
              <a:t>04 · CRYPTANALYSIS</a:t>
            </a:r>
          </a:p>
        </p:txBody>
      </p:sp>
      <p:sp>
        <p:nvSpPr>
          <p:cNvPr id="5" name="TextBox 4"/>
          <p:cNvSpPr txBox="1"/>
          <p:nvPr/>
        </p:nvSpPr>
        <p:spPr>
          <a:xfrm>
            <a:off x="502920" y="347472"/>
            <a:ext cx="10515600" cy="548640"/>
          </a:xfrm>
          <a:prstGeom prst="rect">
            <a:avLst/>
          </a:prstGeom>
          <a:noFill/>
        </p:spPr>
        <p:txBody>
          <a:bodyPr wrap="square" anchor="t" lIns="0" rIns="0" tIns="0" bIns="0">
            <a:spAutoFit/>
          </a:bodyPr>
          <a:lstStyle/>
          <a:p>
            <a:pPr algn="l"/>
            <a:r>
              <a:rPr sz="2600" b="1">
                <a:solidFill>
                  <a:srgbClr val="F5F7FA"/>
                </a:solidFill>
                <a:latin typeface="Segoe UI"/>
              </a:rPr>
              <a:t>Attack 1 — Letter Frequency Analysis</a:t>
            </a:r>
          </a:p>
        </p:txBody>
      </p:sp>
      <p:sp>
        <p:nvSpPr>
          <p:cNvPr id="6" name="Rectangle 5"/>
          <p:cNvSpPr/>
          <p:nvPr/>
        </p:nvSpPr>
        <p:spPr>
          <a:xfrm>
            <a:off x="11338560" y="274320"/>
            <a:ext cx="502920" cy="411480"/>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301752"/>
            <a:ext cx="502920" cy="365760"/>
          </a:xfrm>
          <a:prstGeom prst="rect">
            <a:avLst/>
          </a:prstGeom>
          <a:noFill/>
        </p:spPr>
        <p:txBody>
          <a:bodyPr wrap="square" anchor="t" lIns="0" rIns="0" tIns="0" bIns="0">
            <a:spAutoFit/>
          </a:bodyPr>
          <a:lstStyle/>
          <a:p>
            <a:pPr algn="ctr"/>
            <a:r>
              <a:rPr sz="1200" b="1">
                <a:solidFill>
                  <a:srgbClr val="3EB8F0"/>
                </a:solidFill>
                <a:latin typeface="Consolas"/>
              </a:rPr>
              <a:t>10</a:t>
            </a:r>
          </a:p>
        </p:txBody>
      </p:sp>
      <p:sp>
        <p:nvSpPr>
          <p:cNvPr id="8" name="TextBox 7"/>
          <p:cNvSpPr txBox="1"/>
          <p:nvPr/>
        </p:nvSpPr>
        <p:spPr>
          <a:xfrm>
            <a:off x="502920" y="1371600"/>
            <a:ext cx="5989320" cy="3840480"/>
          </a:xfrm>
          <a:prstGeom prst="rect">
            <a:avLst/>
          </a:prstGeom>
          <a:noFill/>
        </p:spPr>
        <p:txBody>
          <a:bodyPr wrap="square" lIns="0" rIns="0" tIns="0" bIns="0">
            <a:spAutoFit/>
          </a:bodyPr>
          <a:lstStyle/>
          <a:p>
            <a:pPr algn="l">
              <a:spcAft>
                <a:spcPts val="1200"/>
              </a:spcAft>
            </a:pPr>
            <a:r>
              <a:rPr sz="1350">
                <a:solidFill>
                  <a:srgbClr val="3EB8F0"/>
                </a:solidFill>
                <a:latin typeface="Segoe UI"/>
              </a:rPr>
              <a:t>•  </a:t>
            </a:r>
            <a:r>
              <a:rPr sz="1350" b="1">
                <a:solidFill>
                  <a:srgbClr val="F5F7FA"/>
                </a:solidFill>
                <a:latin typeface="Segoe UI"/>
              </a:rPr>
              <a:t>Idea: </a:t>
            </a:r>
            <a:r>
              <a:rPr sz="1350">
                <a:solidFill>
                  <a:srgbClr val="F5F7FA"/>
                </a:solidFill>
                <a:latin typeface="Segoe UI"/>
              </a:rPr>
              <a:t>English is uneven — E, T and A dominate; counting letters exposes structure</a:t>
            </a:r>
          </a:p>
          <a:p>
            <a:pPr algn="l">
              <a:spcAft>
                <a:spcPts val="1200"/>
              </a:spcAft>
            </a:pPr>
            <a:r>
              <a:rPr sz="1350">
                <a:solidFill>
                  <a:srgbClr val="3EB8F0"/>
                </a:solidFill>
                <a:latin typeface="Segoe UI"/>
              </a:rPr>
              <a:t>•  </a:t>
            </a:r>
            <a:r>
              <a:rPr sz="1350" b="1">
                <a:solidFill>
                  <a:srgbClr val="F5F7FA"/>
                </a:solidFill>
                <a:latin typeface="Segoe UI"/>
              </a:rPr>
              <a:t>Output: </a:t>
            </a:r>
            <a:r>
              <a:rPr sz="1350">
                <a:solidFill>
                  <a:srgbClr val="F5F7FA"/>
                </a:solidFill>
                <a:latin typeface="Segoe UI"/>
              </a:rPr>
              <a:t>per-letter counts, percentages, and a ranked comparison vs standard English</a:t>
            </a:r>
          </a:p>
          <a:p>
            <a:pPr algn="l">
              <a:spcAft>
                <a:spcPts val="1200"/>
              </a:spcAft>
            </a:pPr>
            <a:r>
              <a:rPr sz="1350">
                <a:solidFill>
                  <a:srgbClr val="3EB8F0"/>
                </a:solidFill>
                <a:latin typeface="Segoe UI"/>
              </a:rPr>
              <a:t>•  </a:t>
            </a:r>
            <a:r>
              <a:rPr sz="1350" b="1">
                <a:solidFill>
                  <a:srgbClr val="F5F7FA"/>
                </a:solidFill>
                <a:latin typeface="Segoe UI"/>
              </a:rPr>
              <a:t>Reading it: </a:t>
            </a:r>
            <a:r>
              <a:rPr sz="1350">
                <a:solidFill>
                  <a:srgbClr val="F5F7FA"/>
                </a:solidFill>
                <a:latin typeface="Segoe UI"/>
              </a:rPr>
              <a:t>peaks at H, K, O, R are shifted E, T, A, O — an instant Caesar diagnosis</a:t>
            </a:r>
          </a:p>
          <a:p>
            <a:pPr algn="l">
              <a:spcAft>
                <a:spcPts val="1200"/>
              </a:spcAft>
            </a:pPr>
            <a:r>
              <a:rPr sz="1350">
                <a:solidFill>
                  <a:srgbClr val="3EB8F0"/>
                </a:solidFill>
                <a:latin typeface="Segoe UI"/>
              </a:rPr>
              <a:t>•  </a:t>
            </a:r>
            <a:r>
              <a:rPr sz="1350" b="1">
                <a:solidFill>
                  <a:srgbClr val="F5F7FA"/>
                </a:solidFill>
                <a:latin typeface="Segoe UI"/>
              </a:rPr>
              <a:t>Reuse: </a:t>
            </a:r>
            <a:r>
              <a:rPr sz="1350">
                <a:solidFill>
                  <a:srgbClr val="F5F7FA"/>
                </a:solidFill>
                <a:latin typeface="Segoe UI"/>
              </a:rPr>
              <a:t>the same counting powers the chi-square fitness score that ranks candidates</a:t>
            </a:r>
          </a:p>
        </p:txBody>
      </p:sp>
      <p:sp>
        <p:nvSpPr>
          <p:cNvPr id="9" name="Rectangle 8"/>
          <p:cNvSpPr/>
          <p:nvPr/>
        </p:nvSpPr>
        <p:spPr>
          <a:xfrm>
            <a:off x="502920" y="5074920"/>
            <a:ext cx="5989320" cy="1005840"/>
          </a:xfrm>
          <a:prstGeom prst="rect">
            <a:avLst/>
          </a:prstGeom>
          <a:solidFill>
            <a:srgbClr val="103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212080"/>
            <a:ext cx="5577840" cy="777240"/>
          </a:xfrm>
          <a:prstGeom prst="rect">
            <a:avLst/>
          </a:prstGeom>
          <a:noFill/>
        </p:spPr>
        <p:txBody>
          <a:bodyPr wrap="square" anchor="t" lIns="0" rIns="0" tIns="0" bIns="0">
            <a:spAutoFit/>
          </a:bodyPr>
          <a:lstStyle/>
          <a:p>
            <a:pPr algn="l"/>
            <a:r>
              <a:rPr sz="1250" b="1">
                <a:solidFill>
                  <a:srgbClr val="39D353"/>
                </a:solidFill>
                <a:latin typeface="Segoe UI"/>
              </a:rPr>
              <a:t>Foundation attack: </a:t>
            </a:r>
          </a:p>
          <a:p>
            <a:pPr algn="l">
              <a:spcBef>
                <a:spcPts val="200"/>
              </a:spcBef>
            </a:pPr>
            <a:r>
              <a:rPr sz="1150" b="0">
                <a:solidFill>
                  <a:srgbClr val="F5F7FA"/>
                </a:solidFill>
                <a:latin typeface="Segoe UI"/>
              </a:rPr>
              <a:t>frequency counting feeds every later stage of the engine.</a:t>
            </a:r>
          </a:p>
        </p:txBody>
      </p:sp>
      <p:sp>
        <p:nvSpPr>
          <p:cNvPr id="11" name="Rectangle 10"/>
          <p:cNvSpPr/>
          <p:nvPr/>
        </p:nvSpPr>
        <p:spPr>
          <a:xfrm>
            <a:off x="7064606" y="1316355"/>
            <a:ext cx="4341668" cy="2396490"/>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08_frequency_1.png"/>
          <p:cNvPicPr>
            <a:picLocks noChangeAspect="1"/>
          </p:cNvPicPr>
          <p:nvPr/>
        </p:nvPicPr>
        <p:blipFill>
          <a:blip r:embed="rId2"/>
          <a:stretch>
            <a:fillRect/>
          </a:stretch>
        </p:blipFill>
        <p:spPr>
          <a:xfrm>
            <a:off x="7074131" y="1325880"/>
            <a:ext cx="4322618" cy="2377440"/>
          </a:xfrm>
          <a:prstGeom prst="rect">
            <a:avLst/>
          </a:prstGeom>
        </p:spPr>
      </p:pic>
      <p:sp>
        <p:nvSpPr>
          <p:cNvPr id="13" name="Rectangle 12"/>
          <p:cNvSpPr/>
          <p:nvPr/>
        </p:nvSpPr>
        <p:spPr>
          <a:xfrm>
            <a:off x="6963584" y="3830955"/>
            <a:ext cx="4543711" cy="2442210"/>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08_frequency_2.png"/>
          <p:cNvPicPr>
            <a:picLocks noChangeAspect="1"/>
          </p:cNvPicPr>
          <p:nvPr/>
        </p:nvPicPr>
        <p:blipFill>
          <a:blip r:embed="rId3"/>
          <a:stretch>
            <a:fillRect/>
          </a:stretch>
        </p:blipFill>
        <p:spPr>
          <a:xfrm>
            <a:off x="6973109" y="3840480"/>
            <a:ext cx="4524661" cy="2423160"/>
          </a:xfrm>
          <a:prstGeom prst="rect">
            <a:avLst/>
          </a:prstGeom>
        </p:spPr>
      </p:pic>
      <p:sp>
        <p:nvSpPr>
          <p:cNvPr id="15" name="TextBox 14"/>
          <p:cNvSpPr txBox="1"/>
          <p:nvPr/>
        </p:nvSpPr>
        <p:spPr>
          <a:xfrm>
            <a:off x="502920" y="6492240"/>
            <a:ext cx="10515600" cy="274320"/>
          </a:xfrm>
          <a:prstGeom prst="rect">
            <a:avLst/>
          </a:prstGeom>
          <a:noFill/>
        </p:spPr>
        <p:txBody>
          <a:bodyPr wrap="square" anchor="t" lIns="0" rIns="0" tIns="0" bIns="0">
            <a:spAutoFit/>
          </a:bodyPr>
          <a:lstStyle/>
          <a:p>
            <a:pPr algn="l"/>
            <a:r>
              <a:rPr sz="900" b="0">
                <a:solidFill>
                  <a:srgbClr val="9AB4CC"/>
                </a:solidFill>
                <a:latin typeface="Segoe UI"/>
              </a:rPr>
              <a:t>Screenshots: frequency summary and comparison with standard English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1750"/>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8686800" cy="274320"/>
          </a:xfrm>
          <a:prstGeom prst="rect">
            <a:avLst/>
          </a:prstGeom>
          <a:noFill/>
        </p:spPr>
        <p:txBody>
          <a:bodyPr wrap="square" anchor="t" lIns="0" rIns="0" tIns="0" bIns="0">
            <a:spAutoFit/>
          </a:bodyPr>
          <a:lstStyle/>
          <a:p>
            <a:pPr algn="l"/>
            <a:r>
              <a:rPr sz="1100" b="1">
                <a:solidFill>
                  <a:srgbClr val="3EB8F0"/>
                </a:solidFill>
                <a:latin typeface="Segoe UI"/>
              </a:rPr>
              <a:t>04 · CRYPTANALYSIS</a:t>
            </a:r>
          </a:p>
        </p:txBody>
      </p:sp>
      <p:sp>
        <p:nvSpPr>
          <p:cNvPr id="5" name="TextBox 4"/>
          <p:cNvSpPr txBox="1"/>
          <p:nvPr/>
        </p:nvSpPr>
        <p:spPr>
          <a:xfrm>
            <a:off x="502920" y="347472"/>
            <a:ext cx="10515600" cy="548640"/>
          </a:xfrm>
          <a:prstGeom prst="rect">
            <a:avLst/>
          </a:prstGeom>
          <a:noFill/>
        </p:spPr>
        <p:txBody>
          <a:bodyPr wrap="square" anchor="t" lIns="0" rIns="0" tIns="0" bIns="0">
            <a:spAutoFit/>
          </a:bodyPr>
          <a:lstStyle/>
          <a:p>
            <a:pPr algn="l"/>
            <a:r>
              <a:rPr sz="2600" b="1">
                <a:solidFill>
                  <a:srgbClr val="F5F7FA"/>
                </a:solidFill>
                <a:latin typeface="Segoe UI"/>
              </a:rPr>
              <a:t>Attack 2 — Automatic Caesar Cracking</a:t>
            </a:r>
          </a:p>
        </p:txBody>
      </p:sp>
      <p:sp>
        <p:nvSpPr>
          <p:cNvPr id="6" name="Rectangle 5"/>
          <p:cNvSpPr/>
          <p:nvPr/>
        </p:nvSpPr>
        <p:spPr>
          <a:xfrm>
            <a:off x="11338560" y="274320"/>
            <a:ext cx="502920" cy="411480"/>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301752"/>
            <a:ext cx="502920" cy="365760"/>
          </a:xfrm>
          <a:prstGeom prst="rect">
            <a:avLst/>
          </a:prstGeom>
          <a:noFill/>
        </p:spPr>
        <p:txBody>
          <a:bodyPr wrap="square" anchor="t" lIns="0" rIns="0" tIns="0" bIns="0">
            <a:spAutoFit/>
          </a:bodyPr>
          <a:lstStyle/>
          <a:p>
            <a:pPr algn="ctr"/>
            <a:r>
              <a:rPr sz="1200" b="1">
                <a:solidFill>
                  <a:srgbClr val="3EB8F0"/>
                </a:solidFill>
                <a:latin typeface="Consolas"/>
              </a:rPr>
              <a:t>11</a:t>
            </a:r>
          </a:p>
        </p:txBody>
      </p:sp>
      <p:sp>
        <p:nvSpPr>
          <p:cNvPr id="8" name="TextBox 7"/>
          <p:cNvSpPr txBox="1"/>
          <p:nvPr/>
        </p:nvSpPr>
        <p:spPr>
          <a:xfrm>
            <a:off x="502920" y="1371600"/>
            <a:ext cx="5989320" cy="4389120"/>
          </a:xfrm>
          <a:prstGeom prst="rect">
            <a:avLst/>
          </a:prstGeom>
          <a:noFill/>
        </p:spPr>
        <p:txBody>
          <a:bodyPr wrap="square" lIns="0" rIns="0" tIns="0" bIns="0">
            <a:spAutoFit/>
          </a:bodyPr>
          <a:lstStyle/>
          <a:p>
            <a:pPr algn="l">
              <a:spcAft>
                <a:spcPts val="1200"/>
              </a:spcAft>
            </a:pPr>
            <a:r>
              <a:rPr sz="1350">
                <a:solidFill>
                  <a:srgbClr val="3EB8F0"/>
                </a:solidFill>
                <a:latin typeface="Segoe UI"/>
              </a:rPr>
              <a:t>•  </a:t>
            </a:r>
            <a:r>
              <a:rPr sz="1350" b="1">
                <a:solidFill>
                  <a:srgbClr val="F5F7FA"/>
                </a:solidFill>
                <a:latin typeface="Segoe UI"/>
              </a:rPr>
              <a:t>Method: </a:t>
            </a:r>
            <a:r>
              <a:rPr sz="1350">
                <a:solidFill>
                  <a:srgbClr val="F5F7FA"/>
                </a:solidFill>
                <a:latin typeface="Segoe UI"/>
              </a:rPr>
              <a:t>try all 26 shifts; score each with chi-square + digram fitness vs English</a:t>
            </a:r>
          </a:p>
          <a:p>
            <a:pPr algn="l">
              <a:spcAft>
                <a:spcPts val="1200"/>
              </a:spcAft>
            </a:pPr>
            <a:r>
              <a:rPr sz="1350">
                <a:solidFill>
                  <a:srgbClr val="3EB8F0"/>
                </a:solidFill>
                <a:latin typeface="Segoe UI"/>
              </a:rPr>
              <a:t>•  </a:t>
            </a:r>
            <a:r>
              <a:rPr sz="1350" b="1">
                <a:solidFill>
                  <a:srgbClr val="F5F7FA"/>
                </a:solidFill>
                <a:latin typeface="Segoe UI"/>
              </a:rPr>
              <a:t>Demo input: </a:t>
            </a:r>
            <a:r>
              <a:rPr sz="1350">
                <a:solidFill>
                  <a:srgbClr val="F5F7FA"/>
                </a:solidFill>
                <a:latin typeface="Segoe UI"/>
              </a:rPr>
              <a:t>1,287-character ciphertext from sample_data/caesar_sample.txt</a:t>
            </a:r>
          </a:p>
          <a:p>
            <a:pPr algn="l">
              <a:spcAft>
                <a:spcPts val="1200"/>
              </a:spcAft>
            </a:pPr>
            <a:r>
              <a:rPr sz="1350">
                <a:solidFill>
                  <a:srgbClr val="3EB8F0"/>
                </a:solidFill>
                <a:latin typeface="Segoe UI"/>
              </a:rPr>
              <a:t>•  </a:t>
            </a:r>
            <a:r>
              <a:rPr sz="1350" b="1">
                <a:solidFill>
                  <a:srgbClr val="F5F7FA"/>
                </a:solidFill>
                <a:latin typeface="Segoe UI"/>
              </a:rPr>
              <a:t>Result: </a:t>
            </a:r>
            <a:r>
              <a:rPr sz="1350">
                <a:solidFill>
                  <a:srgbClr val="F5F7FA"/>
                </a:solidFill>
                <a:latin typeface="Segoe UI"/>
              </a:rPr>
              <a:t>shift 3 ranked #1 with score 70.52 — runner-up only 22.94</a:t>
            </a:r>
          </a:p>
          <a:p>
            <a:pPr algn="l">
              <a:spcAft>
                <a:spcPts val="1200"/>
              </a:spcAft>
            </a:pPr>
            <a:r>
              <a:rPr sz="1350">
                <a:solidFill>
                  <a:srgbClr val="3EB8F0"/>
                </a:solidFill>
                <a:latin typeface="Segoe UI"/>
              </a:rPr>
              <a:t>•  </a:t>
            </a:r>
            <a:r>
              <a:rPr sz="1350" b="1">
                <a:solidFill>
                  <a:srgbClr val="F5F7FA"/>
                </a:solidFill>
                <a:latin typeface="Segoe UI"/>
              </a:rPr>
              <a:t>Output: </a:t>
            </a:r>
            <a:r>
              <a:rPr sz="1350">
                <a:solidFill>
                  <a:srgbClr val="F5F7FA"/>
                </a:solidFill>
                <a:latin typeface="Segoe UI"/>
              </a:rPr>
              <a:t>top-5 ranked candidate plaintexts + the best full decryption</a:t>
            </a:r>
          </a:p>
          <a:p>
            <a:pPr algn="l">
              <a:spcAft>
                <a:spcPts val="1200"/>
              </a:spcAft>
            </a:pPr>
            <a:r>
              <a:rPr sz="1350">
                <a:solidFill>
                  <a:srgbClr val="3EB8F0"/>
                </a:solidFill>
                <a:latin typeface="Segoe UI"/>
              </a:rPr>
              <a:t>•  </a:t>
            </a:r>
            <a:r>
              <a:rPr sz="1350" b="1">
                <a:solidFill>
                  <a:srgbClr val="F5F7FA"/>
                </a:solidFill>
                <a:latin typeface="Segoe UI"/>
              </a:rPr>
              <a:t>Statistical honesty: </a:t>
            </a:r>
            <a:r>
              <a:rPr sz="1350">
                <a:solidFill>
                  <a:srgbClr val="F5F7FA"/>
                </a:solidFill>
                <a:latin typeface="Segoe UI"/>
              </a:rPr>
              <a:t>an on-screen note warns that short or odd texts can mislead the ranking</a:t>
            </a:r>
          </a:p>
        </p:txBody>
      </p:sp>
      <p:sp>
        <p:nvSpPr>
          <p:cNvPr id="9" name="Rectangle 8"/>
          <p:cNvSpPr/>
          <p:nvPr/>
        </p:nvSpPr>
        <p:spPr>
          <a:xfrm>
            <a:off x="6711315" y="1507137"/>
            <a:ext cx="5048250" cy="1832045"/>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09_crack_a_2.png"/>
          <p:cNvPicPr>
            <a:picLocks noChangeAspect="1"/>
          </p:cNvPicPr>
          <p:nvPr/>
        </p:nvPicPr>
        <p:blipFill>
          <a:blip r:embed="rId2"/>
          <a:stretch>
            <a:fillRect/>
          </a:stretch>
        </p:blipFill>
        <p:spPr>
          <a:xfrm>
            <a:off x="6720840" y="1516662"/>
            <a:ext cx="5029200" cy="1812995"/>
          </a:xfrm>
          <a:prstGeom prst="rect">
            <a:avLst/>
          </a:prstGeom>
        </p:spPr>
      </p:pic>
      <p:sp>
        <p:nvSpPr>
          <p:cNvPr id="11" name="Rectangle 10"/>
          <p:cNvSpPr/>
          <p:nvPr/>
        </p:nvSpPr>
        <p:spPr>
          <a:xfrm>
            <a:off x="6868477" y="3602355"/>
            <a:ext cx="4733925" cy="2533650"/>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10_crack_b_1.png"/>
          <p:cNvPicPr>
            <a:picLocks noChangeAspect="1"/>
          </p:cNvPicPr>
          <p:nvPr/>
        </p:nvPicPr>
        <p:blipFill>
          <a:blip r:embed="rId3"/>
          <a:stretch>
            <a:fillRect/>
          </a:stretch>
        </p:blipFill>
        <p:spPr>
          <a:xfrm>
            <a:off x="6878002" y="3611880"/>
            <a:ext cx="4714875" cy="2514600"/>
          </a:xfrm>
          <a:prstGeom prst="rect">
            <a:avLst/>
          </a:prstGeom>
        </p:spPr>
      </p:pic>
      <p:sp>
        <p:nvSpPr>
          <p:cNvPr id="13" name="TextBox 12"/>
          <p:cNvSpPr txBox="1"/>
          <p:nvPr/>
        </p:nvSpPr>
        <p:spPr>
          <a:xfrm>
            <a:off x="502920" y="6492240"/>
            <a:ext cx="10515600" cy="274320"/>
          </a:xfrm>
          <a:prstGeom prst="rect">
            <a:avLst/>
          </a:prstGeom>
          <a:noFill/>
        </p:spPr>
        <p:txBody>
          <a:bodyPr wrap="square" anchor="t" lIns="0" rIns="0" tIns="0" bIns="0">
            <a:spAutoFit/>
          </a:bodyPr>
          <a:lstStyle/>
          <a:p>
            <a:pPr algn="l"/>
            <a:r>
              <a:rPr sz="900" b="0">
                <a:solidFill>
                  <a:srgbClr val="9AB4CC"/>
                </a:solidFill>
                <a:latin typeface="Segoe UI"/>
              </a:rPr>
              <a:t>Screenshots: ranked candidate table and BEST CANDIDATE block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1750"/>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8686800" cy="274320"/>
          </a:xfrm>
          <a:prstGeom prst="rect">
            <a:avLst/>
          </a:prstGeom>
          <a:noFill/>
        </p:spPr>
        <p:txBody>
          <a:bodyPr wrap="square" anchor="t" lIns="0" rIns="0" tIns="0" bIns="0">
            <a:spAutoFit/>
          </a:bodyPr>
          <a:lstStyle/>
          <a:p>
            <a:pPr algn="l"/>
            <a:r>
              <a:rPr sz="1100" b="1">
                <a:solidFill>
                  <a:srgbClr val="3EB8F0"/>
                </a:solidFill>
                <a:latin typeface="Segoe UI"/>
              </a:rPr>
              <a:t>04 · CRYPTANALYSIS</a:t>
            </a:r>
          </a:p>
        </p:txBody>
      </p:sp>
      <p:sp>
        <p:nvSpPr>
          <p:cNvPr id="5" name="TextBox 4"/>
          <p:cNvSpPr txBox="1"/>
          <p:nvPr/>
        </p:nvSpPr>
        <p:spPr>
          <a:xfrm>
            <a:off x="502920" y="347472"/>
            <a:ext cx="10515600" cy="548640"/>
          </a:xfrm>
          <a:prstGeom prst="rect">
            <a:avLst/>
          </a:prstGeom>
          <a:noFill/>
        </p:spPr>
        <p:txBody>
          <a:bodyPr wrap="square" anchor="t" lIns="0" rIns="0" tIns="0" bIns="0">
            <a:spAutoFit/>
          </a:bodyPr>
          <a:lstStyle/>
          <a:p>
            <a:pPr algn="l"/>
            <a:r>
              <a:rPr sz="2600" b="1">
                <a:solidFill>
                  <a:srgbClr val="F5F7FA"/>
                </a:solidFill>
                <a:latin typeface="Segoe UI"/>
              </a:rPr>
              <a:t>Attack 3 — Index of Coincidence</a:t>
            </a:r>
          </a:p>
        </p:txBody>
      </p:sp>
      <p:sp>
        <p:nvSpPr>
          <p:cNvPr id="6" name="Rectangle 5"/>
          <p:cNvSpPr/>
          <p:nvPr/>
        </p:nvSpPr>
        <p:spPr>
          <a:xfrm>
            <a:off x="11338560" y="274320"/>
            <a:ext cx="502920" cy="411480"/>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301752"/>
            <a:ext cx="502920" cy="365760"/>
          </a:xfrm>
          <a:prstGeom prst="rect">
            <a:avLst/>
          </a:prstGeom>
          <a:noFill/>
        </p:spPr>
        <p:txBody>
          <a:bodyPr wrap="square" anchor="t" lIns="0" rIns="0" tIns="0" bIns="0">
            <a:spAutoFit/>
          </a:bodyPr>
          <a:lstStyle/>
          <a:p>
            <a:pPr algn="ctr"/>
            <a:r>
              <a:rPr sz="1200" b="1">
                <a:solidFill>
                  <a:srgbClr val="3EB8F0"/>
                </a:solidFill>
                <a:latin typeface="Consolas"/>
              </a:rPr>
              <a:t>12</a:t>
            </a:r>
          </a:p>
        </p:txBody>
      </p:sp>
      <p:sp>
        <p:nvSpPr>
          <p:cNvPr id="8" name="TextBox 7"/>
          <p:cNvSpPr txBox="1"/>
          <p:nvPr/>
        </p:nvSpPr>
        <p:spPr>
          <a:xfrm>
            <a:off x="502920" y="1371600"/>
            <a:ext cx="5989320" cy="4389120"/>
          </a:xfrm>
          <a:prstGeom prst="rect">
            <a:avLst/>
          </a:prstGeom>
          <a:noFill/>
        </p:spPr>
        <p:txBody>
          <a:bodyPr wrap="square" lIns="0" rIns="0" tIns="0" bIns="0">
            <a:spAutoFit/>
          </a:bodyPr>
          <a:lstStyle/>
          <a:p>
            <a:pPr algn="l">
              <a:spcAft>
                <a:spcPts val="1200"/>
              </a:spcAft>
            </a:pPr>
            <a:r>
              <a:rPr sz="1350">
                <a:solidFill>
                  <a:srgbClr val="3EB8F0"/>
                </a:solidFill>
                <a:latin typeface="Segoe UI"/>
              </a:rPr>
              <a:t>•  </a:t>
            </a:r>
            <a:r>
              <a:rPr sz="1350" b="1">
                <a:solidFill>
                  <a:srgbClr val="F5F7FA"/>
                </a:solidFill>
                <a:latin typeface="Segoe UI"/>
              </a:rPr>
              <a:t>Definition: </a:t>
            </a:r>
            <a:r>
              <a:rPr sz="1350">
                <a:solidFill>
                  <a:srgbClr val="F5F7FA"/>
                </a:solidFill>
                <a:latin typeface="Segoe UI"/>
              </a:rPr>
              <a:t>IC = Σ fᵢ(fᵢ−1) / N(N−1) — how unevenly letters are spread</a:t>
            </a:r>
          </a:p>
          <a:p>
            <a:pPr algn="l">
              <a:spcAft>
                <a:spcPts val="1200"/>
              </a:spcAft>
            </a:pPr>
            <a:r>
              <a:rPr sz="1350">
                <a:solidFill>
                  <a:srgbClr val="3EB8F0"/>
                </a:solidFill>
                <a:latin typeface="Segoe UI"/>
              </a:rPr>
              <a:t>•  </a:t>
            </a:r>
            <a:r>
              <a:rPr sz="1350" b="1">
                <a:solidFill>
                  <a:srgbClr val="F5F7FA"/>
                </a:solidFill>
                <a:latin typeface="Segoe UI"/>
              </a:rPr>
              <a:t>Benchmarks: </a:t>
            </a:r>
            <a:r>
              <a:rPr sz="1350">
                <a:solidFill>
                  <a:srgbClr val="F5F7FA"/>
                </a:solidFill>
                <a:latin typeface="Segoe UI"/>
              </a:rPr>
              <a:t>English ≈ 0.0667 · random ≈ 0.0385</a:t>
            </a:r>
          </a:p>
          <a:p>
            <a:pPr algn="l">
              <a:spcAft>
                <a:spcPts val="1200"/>
              </a:spcAft>
            </a:pPr>
            <a:r>
              <a:rPr sz="1350">
                <a:solidFill>
                  <a:srgbClr val="3EB8F0"/>
                </a:solidFill>
                <a:latin typeface="Segoe UI"/>
              </a:rPr>
              <a:t>•  </a:t>
            </a:r>
            <a:r>
              <a:rPr sz="1350" b="1">
                <a:solidFill>
                  <a:srgbClr val="F5F7FA"/>
                </a:solidFill>
                <a:latin typeface="Segoe UI"/>
              </a:rPr>
              <a:t>Demo: </a:t>
            </a:r>
            <a:r>
              <a:rPr sz="1350">
                <a:solidFill>
                  <a:srgbClr val="F5F7FA"/>
                </a:solidFill>
                <a:latin typeface="Segoe UI"/>
              </a:rPr>
              <a:t>Vigenère sample scores 0.0435 — low IC exposes polyalphabetic text</a:t>
            </a:r>
          </a:p>
          <a:p>
            <a:pPr algn="l">
              <a:spcAft>
                <a:spcPts val="1200"/>
              </a:spcAft>
            </a:pPr>
            <a:r>
              <a:rPr sz="1350">
                <a:solidFill>
                  <a:srgbClr val="3EB8F0"/>
                </a:solidFill>
                <a:latin typeface="Segoe UI"/>
              </a:rPr>
              <a:t>•  </a:t>
            </a:r>
            <a:r>
              <a:rPr sz="1350" b="1">
                <a:solidFill>
                  <a:srgbClr val="F5F7FA"/>
                </a:solidFill>
                <a:latin typeface="Segoe UI"/>
              </a:rPr>
              <a:t>Key-length probe: </a:t>
            </a:r>
            <a:r>
              <a:rPr sz="1350">
                <a:solidFill>
                  <a:srgbClr val="F5F7FA"/>
                </a:solidFill>
                <a:latin typeface="Segoe UI"/>
              </a:rPr>
              <a:t>average IC per assumed length spikes at the true length (here 5, 10, 15)</a:t>
            </a:r>
          </a:p>
          <a:p>
            <a:pPr algn="l">
              <a:spcAft>
                <a:spcPts val="1200"/>
              </a:spcAft>
            </a:pPr>
            <a:r>
              <a:rPr sz="1350">
                <a:solidFill>
                  <a:srgbClr val="3EB8F0"/>
                </a:solidFill>
                <a:latin typeface="Segoe UI"/>
              </a:rPr>
              <a:t>•  </a:t>
            </a:r>
            <a:r>
              <a:rPr sz="1350" b="1">
                <a:solidFill>
                  <a:srgbClr val="F5F7FA"/>
                </a:solidFill>
                <a:latin typeface="Segoe UI"/>
              </a:rPr>
              <a:t>Caution: </a:t>
            </a:r>
            <a:r>
              <a:rPr sz="1350">
                <a:solidFill>
                  <a:srgbClr val="F5F7FA"/>
                </a:solidFill>
                <a:latin typeface="Segoe UI"/>
              </a:rPr>
              <a:t>IC suggests, never proves — always corroborate with Kasiski evidence</a:t>
            </a:r>
          </a:p>
        </p:txBody>
      </p:sp>
      <p:sp>
        <p:nvSpPr>
          <p:cNvPr id="9" name="Rectangle 8"/>
          <p:cNvSpPr/>
          <p:nvPr/>
        </p:nvSpPr>
        <p:spPr>
          <a:xfrm>
            <a:off x="6835528" y="1316355"/>
            <a:ext cx="4799824" cy="2579370"/>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11_ic_1.png"/>
          <p:cNvPicPr>
            <a:picLocks noChangeAspect="1"/>
          </p:cNvPicPr>
          <p:nvPr/>
        </p:nvPicPr>
        <p:blipFill>
          <a:blip r:embed="rId2"/>
          <a:stretch>
            <a:fillRect/>
          </a:stretch>
        </p:blipFill>
        <p:spPr>
          <a:xfrm>
            <a:off x="6845053" y="1325880"/>
            <a:ext cx="4780774" cy="2560320"/>
          </a:xfrm>
          <a:prstGeom prst="rect">
            <a:avLst/>
          </a:prstGeom>
        </p:spPr>
      </p:pic>
      <p:sp>
        <p:nvSpPr>
          <p:cNvPr id="11" name="Rectangle 10"/>
          <p:cNvSpPr/>
          <p:nvPr/>
        </p:nvSpPr>
        <p:spPr>
          <a:xfrm>
            <a:off x="6711315" y="4099915"/>
            <a:ext cx="5048250" cy="1767130"/>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11_ic_2.png"/>
          <p:cNvPicPr>
            <a:picLocks noChangeAspect="1"/>
          </p:cNvPicPr>
          <p:nvPr/>
        </p:nvPicPr>
        <p:blipFill>
          <a:blip r:embed="rId3"/>
          <a:stretch>
            <a:fillRect/>
          </a:stretch>
        </p:blipFill>
        <p:spPr>
          <a:xfrm>
            <a:off x="6720840" y="4109440"/>
            <a:ext cx="5029200" cy="1748080"/>
          </a:xfrm>
          <a:prstGeom prst="rect">
            <a:avLst/>
          </a:prstGeom>
        </p:spPr>
      </p:pic>
      <p:sp>
        <p:nvSpPr>
          <p:cNvPr id="13" name="TextBox 12"/>
          <p:cNvSpPr txBox="1"/>
          <p:nvPr/>
        </p:nvSpPr>
        <p:spPr>
          <a:xfrm>
            <a:off x="502920" y="6492240"/>
            <a:ext cx="10515600" cy="274320"/>
          </a:xfrm>
          <a:prstGeom prst="rect">
            <a:avLst/>
          </a:prstGeom>
          <a:noFill/>
        </p:spPr>
        <p:txBody>
          <a:bodyPr wrap="square" anchor="t" lIns="0" rIns="0" tIns="0" bIns="0">
            <a:spAutoFit/>
          </a:bodyPr>
          <a:lstStyle/>
          <a:p>
            <a:pPr algn="l"/>
            <a:r>
              <a:rPr sz="900" b="0">
                <a:solidFill>
                  <a:srgbClr val="9AB4CC"/>
                </a:solidFill>
                <a:latin typeface="Segoe UI"/>
              </a:rPr>
              <a:t>Screenshots: IC summary and average IC per assumed key length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1750"/>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8686800" cy="274320"/>
          </a:xfrm>
          <a:prstGeom prst="rect">
            <a:avLst/>
          </a:prstGeom>
          <a:noFill/>
        </p:spPr>
        <p:txBody>
          <a:bodyPr wrap="square" anchor="t" lIns="0" rIns="0" tIns="0" bIns="0">
            <a:spAutoFit/>
          </a:bodyPr>
          <a:lstStyle/>
          <a:p>
            <a:pPr algn="l"/>
            <a:r>
              <a:rPr sz="1100" b="1">
                <a:solidFill>
                  <a:srgbClr val="3EB8F0"/>
                </a:solidFill>
                <a:latin typeface="Segoe UI"/>
              </a:rPr>
              <a:t>04 · CRYPTANALYSIS</a:t>
            </a:r>
          </a:p>
        </p:txBody>
      </p:sp>
      <p:sp>
        <p:nvSpPr>
          <p:cNvPr id="5" name="TextBox 4"/>
          <p:cNvSpPr txBox="1"/>
          <p:nvPr/>
        </p:nvSpPr>
        <p:spPr>
          <a:xfrm>
            <a:off x="502920" y="347472"/>
            <a:ext cx="10515600" cy="548640"/>
          </a:xfrm>
          <a:prstGeom prst="rect">
            <a:avLst/>
          </a:prstGeom>
          <a:noFill/>
        </p:spPr>
        <p:txBody>
          <a:bodyPr wrap="square" anchor="t" lIns="0" rIns="0" tIns="0" bIns="0">
            <a:spAutoFit/>
          </a:bodyPr>
          <a:lstStyle/>
          <a:p>
            <a:pPr algn="l"/>
            <a:r>
              <a:rPr sz="2600" b="1">
                <a:solidFill>
                  <a:srgbClr val="F5F7FA"/>
                </a:solidFill>
                <a:latin typeface="Segoe UI"/>
              </a:rPr>
              <a:t>Attack 4 — Kasiski Examination</a:t>
            </a:r>
          </a:p>
        </p:txBody>
      </p:sp>
      <p:sp>
        <p:nvSpPr>
          <p:cNvPr id="6" name="Rectangle 5"/>
          <p:cNvSpPr/>
          <p:nvPr/>
        </p:nvSpPr>
        <p:spPr>
          <a:xfrm>
            <a:off x="11338560" y="274320"/>
            <a:ext cx="502920" cy="411480"/>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301752"/>
            <a:ext cx="502920" cy="365760"/>
          </a:xfrm>
          <a:prstGeom prst="rect">
            <a:avLst/>
          </a:prstGeom>
          <a:noFill/>
        </p:spPr>
        <p:txBody>
          <a:bodyPr wrap="square" anchor="t" lIns="0" rIns="0" tIns="0" bIns="0">
            <a:spAutoFit/>
          </a:bodyPr>
          <a:lstStyle/>
          <a:p>
            <a:pPr algn="ctr"/>
            <a:r>
              <a:rPr sz="1200" b="1">
                <a:solidFill>
                  <a:srgbClr val="3EB8F0"/>
                </a:solidFill>
                <a:latin typeface="Consolas"/>
              </a:rPr>
              <a:t>13</a:t>
            </a:r>
          </a:p>
        </p:txBody>
      </p:sp>
      <p:sp>
        <p:nvSpPr>
          <p:cNvPr id="8" name="TextBox 7"/>
          <p:cNvSpPr txBox="1"/>
          <p:nvPr/>
        </p:nvSpPr>
        <p:spPr>
          <a:xfrm>
            <a:off x="502920" y="1371600"/>
            <a:ext cx="5989320" cy="4389120"/>
          </a:xfrm>
          <a:prstGeom prst="rect">
            <a:avLst/>
          </a:prstGeom>
          <a:noFill/>
        </p:spPr>
        <p:txBody>
          <a:bodyPr wrap="square" lIns="0" rIns="0" tIns="0" bIns="0">
            <a:spAutoFit/>
          </a:bodyPr>
          <a:lstStyle/>
          <a:p>
            <a:pPr algn="l">
              <a:spcAft>
                <a:spcPts val="1200"/>
              </a:spcAft>
            </a:pPr>
            <a:r>
              <a:rPr sz="1350">
                <a:solidFill>
                  <a:srgbClr val="3EB8F0"/>
                </a:solidFill>
                <a:latin typeface="Segoe UI"/>
              </a:rPr>
              <a:t>•  </a:t>
            </a:r>
            <a:r>
              <a:rPr sz="1350" b="1">
                <a:solidFill>
                  <a:srgbClr val="F5F7FA"/>
                </a:solidFill>
                <a:latin typeface="Segoe UI"/>
              </a:rPr>
              <a:t>Idea: </a:t>
            </a:r>
            <a:r>
              <a:rPr sz="1350">
                <a:solidFill>
                  <a:srgbClr val="F5F7FA"/>
                </a:solidFill>
                <a:latin typeface="Segoe UI"/>
              </a:rPr>
              <a:t>repeated ciphertext fragments appear where the key realigns with the text</a:t>
            </a:r>
          </a:p>
          <a:p>
            <a:pPr algn="l">
              <a:spcAft>
                <a:spcPts val="1200"/>
              </a:spcAft>
            </a:pPr>
            <a:r>
              <a:rPr sz="1350">
                <a:solidFill>
                  <a:srgbClr val="3EB8F0"/>
                </a:solidFill>
                <a:latin typeface="Segoe UI"/>
              </a:rPr>
              <a:t>•  </a:t>
            </a:r>
            <a:r>
              <a:rPr sz="1350" b="1">
                <a:solidFill>
                  <a:srgbClr val="F5F7FA"/>
                </a:solidFill>
                <a:latin typeface="Segoe UI"/>
              </a:rPr>
              <a:t>Maths: </a:t>
            </a:r>
            <a:r>
              <a:rPr sz="1350">
                <a:solidFill>
                  <a:srgbClr val="F5F7FA"/>
                </a:solidFill>
                <a:latin typeface="Segoe UI"/>
              </a:rPr>
              <a:t>distances between repeats are multiples of the key length; common factors are candidates</a:t>
            </a:r>
          </a:p>
          <a:p>
            <a:pPr algn="l">
              <a:spcAft>
                <a:spcPts val="1200"/>
              </a:spcAft>
            </a:pPr>
            <a:r>
              <a:rPr sz="1350">
                <a:solidFill>
                  <a:srgbClr val="3EB8F0"/>
                </a:solidFill>
                <a:latin typeface="Segoe UI"/>
              </a:rPr>
              <a:t>•  </a:t>
            </a:r>
            <a:r>
              <a:rPr sz="1350" b="1">
                <a:solidFill>
                  <a:srgbClr val="F5F7FA"/>
                </a:solidFill>
                <a:latin typeface="Segoe UI"/>
              </a:rPr>
              <a:t>Demo: </a:t>
            </a:r>
            <a:r>
              <a:rPr sz="1350">
                <a:solidFill>
                  <a:srgbClr val="F5F7FA"/>
                </a:solidFill>
                <a:latin typeface="Segoe UI"/>
              </a:rPr>
              <a:t>repeats at distances 500 and 395 → shared factors {5, 10, 20, 25}</a:t>
            </a:r>
          </a:p>
          <a:p>
            <a:pPr algn="l">
              <a:spcAft>
                <a:spcPts val="1200"/>
              </a:spcAft>
            </a:pPr>
            <a:r>
              <a:rPr sz="1350">
                <a:solidFill>
                  <a:srgbClr val="3EB8F0"/>
                </a:solidFill>
                <a:latin typeface="Segoe UI"/>
              </a:rPr>
              <a:t>•  </a:t>
            </a:r>
            <a:r>
              <a:rPr sz="1350" b="1">
                <a:solidFill>
                  <a:srgbClr val="F5F7FA"/>
                </a:solidFill>
                <a:latin typeface="Segoe UI"/>
              </a:rPr>
              <a:t>Ranking: </a:t>
            </a:r>
            <a:r>
              <a:rPr sz="1350">
                <a:solidFill>
                  <a:srgbClr val="F5F7FA"/>
                </a:solidFill>
                <a:latin typeface="Segoe UI"/>
              </a:rPr>
              <a:t>evidence-weighted key-length table — length 5 leads the list</a:t>
            </a:r>
          </a:p>
          <a:p>
            <a:pPr algn="l">
              <a:spcAft>
                <a:spcPts val="1200"/>
              </a:spcAft>
            </a:pPr>
            <a:r>
              <a:rPr sz="1350">
                <a:solidFill>
                  <a:srgbClr val="3EB8F0"/>
                </a:solidFill>
                <a:latin typeface="Segoe UI"/>
              </a:rPr>
              <a:t>•  </a:t>
            </a:r>
            <a:r>
              <a:rPr sz="1350" b="1">
                <a:solidFill>
                  <a:srgbClr val="F5F7FA"/>
                </a:solidFill>
                <a:latin typeface="Segoe UI"/>
              </a:rPr>
              <a:t>Honesty: </a:t>
            </a:r>
            <a:r>
              <a:rPr sz="1350">
                <a:solidFill>
                  <a:srgbClr val="F5F7FA"/>
                </a:solidFill>
                <a:latin typeface="Segoe UI"/>
              </a:rPr>
              <a:t>candidates are hypotheses to verify, not proven facts</a:t>
            </a:r>
          </a:p>
        </p:txBody>
      </p:sp>
      <p:sp>
        <p:nvSpPr>
          <p:cNvPr id="9" name="Rectangle 8"/>
          <p:cNvSpPr/>
          <p:nvPr/>
        </p:nvSpPr>
        <p:spPr>
          <a:xfrm>
            <a:off x="6724862" y="1316355"/>
            <a:ext cx="5021156" cy="2579370"/>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12_kasiski_a_2.png"/>
          <p:cNvPicPr>
            <a:picLocks noChangeAspect="1"/>
          </p:cNvPicPr>
          <p:nvPr/>
        </p:nvPicPr>
        <p:blipFill>
          <a:blip r:embed="rId2"/>
          <a:stretch>
            <a:fillRect/>
          </a:stretch>
        </p:blipFill>
        <p:spPr>
          <a:xfrm>
            <a:off x="6734387" y="1325880"/>
            <a:ext cx="5002106" cy="2560320"/>
          </a:xfrm>
          <a:prstGeom prst="rect">
            <a:avLst/>
          </a:prstGeom>
        </p:spPr>
      </p:pic>
      <p:sp>
        <p:nvSpPr>
          <p:cNvPr id="11" name="Rectangle 10"/>
          <p:cNvSpPr/>
          <p:nvPr/>
        </p:nvSpPr>
        <p:spPr>
          <a:xfrm>
            <a:off x="7294765" y="4013835"/>
            <a:ext cx="3881350" cy="1939290"/>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13_kasiski_b_2.png"/>
          <p:cNvPicPr>
            <a:picLocks noChangeAspect="1"/>
          </p:cNvPicPr>
          <p:nvPr/>
        </p:nvPicPr>
        <p:blipFill>
          <a:blip r:embed="rId3"/>
          <a:stretch>
            <a:fillRect/>
          </a:stretch>
        </p:blipFill>
        <p:spPr>
          <a:xfrm>
            <a:off x="7304290" y="4023360"/>
            <a:ext cx="3862300" cy="1920240"/>
          </a:xfrm>
          <a:prstGeom prst="rect">
            <a:avLst/>
          </a:prstGeom>
        </p:spPr>
      </p:pic>
      <p:sp>
        <p:nvSpPr>
          <p:cNvPr id="13" name="TextBox 12"/>
          <p:cNvSpPr txBox="1"/>
          <p:nvPr/>
        </p:nvSpPr>
        <p:spPr>
          <a:xfrm>
            <a:off x="502920" y="6492240"/>
            <a:ext cx="10515600" cy="274320"/>
          </a:xfrm>
          <a:prstGeom prst="rect">
            <a:avLst/>
          </a:prstGeom>
          <a:noFill/>
        </p:spPr>
        <p:txBody>
          <a:bodyPr wrap="square" anchor="t" lIns="0" rIns="0" tIns="0" bIns="0">
            <a:spAutoFit/>
          </a:bodyPr>
          <a:lstStyle/>
          <a:p>
            <a:pPr algn="l"/>
            <a:r>
              <a:rPr sz="900" b="0">
                <a:solidFill>
                  <a:srgbClr val="9AB4CC"/>
                </a:solidFill>
                <a:latin typeface="Segoe UI"/>
              </a:rPr>
              <a:t>Screenshots: repeated-sequence table and ranked key-length evidence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1750"/>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8686800" cy="274320"/>
          </a:xfrm>
          <a:prstGeom prst="rect">
            <a:avLst/>
          </a:prstGeom>
          <a:noFill/>
        </p:spPr>
        <p:txBody>
          <a:bodyPr wrap="square" anchor="t" lIns="0" rIns="0" tIns="0" bIns="0">
            <a:spAutoFit/>
          </a:bodyPr>
          <a:lstStyle/>
          <a:p>
            <a:pPr algn="l"/>
            <a:r>
              <a:rPr sz="1100" b="1">
                <a:solidFill>
                  <a:srgbClr val="3EB8F0"/>
                </a:solidFill>
                <a:latin typeface="Segoe UI"/>
              </a:rPr>
              <a:t>04 · CRYPTANALYSIS</a:t>
            </a:r>
          </a:p>
        </p:txBody>
      </p:sp>
      <p:sp>
        <p:nvSpPr>
          <p:cNvPr id="5" name="TextBox 4"/>
          <p:cNvSpPr txBox="1"/>
          <p:nvPr/>
        </p:nvSpPr>
        <p:spPr>
          <a:xfrm>
            <a:off x="502920" y="347472"/>
            <a:ext cx="10515600" cy="548640"/>
          </a:xfrm>
          <a:prstGeom prst="rect">
            <a:avLst/>
          </a:prstGeom>
          <a:noFill/>
        </p:spPr>
        <p:txBody>
          <a:bodyPr wrap="square" anchor="t" lIns="0" rIns="0" tIns="0" bIns="0">
            <a:spAutoFit/>
          </a:bodyPr>
          <a:lstStyle/>
          <a:p>
            <a:pPr algn="l"/>
            <a:r>
              <a:rPr sz="2600" b="1">
                <a:solidFill>
                  <a:srgbClr val="F5F7FA"/>
                </a:solidFill>
                <a:latin typeface="Segoe UI"/>
              </a:rPr>
              <a:t>Full Vigenère Cryptanalysis Pipeline</a:t>
            </a:r>
          </a:p>
        </p:txBody>
      </p:sp>
      <p:sp>
        <p:nvSpPr>
          <p:cNvPr id="6" name="Rectangle 5"/>
          <p:cNvSpPr/>
          <p:nvPr/>
        </p:nvSpPr>
        <p:spPr>
          <a:xfrm>
            <a:off x="11338560" y="274320"/>
            <a:ext cx="502920" cy="411480"/>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301752"/>
            <a:ext cx="502920" cy="365760"/>
          </a:xfrm>
          <a:prstGeom prst="rect">
            <a:avLst/>
          </a:prstGeom>
          <a:noFill/>
        </p:spPr>
        <p:txBody>
          <a:bodyPr wrap="square" anchor="t" lIns="0" rIns="0" tIns="0" bIns="0">
            <a:spAutoFit/>
          </a:bodyPr>
          <a:lstStyle/>
          <a:p>
            <a:pPr algn="ctr"/>
            <a:r>
              <a:rPr sz="1200" b="1">
                <a:solidFill>
                  <a:srgbClr val="3EB8F0"/>
                </a:solidFill>
                <a:latin typeface="Consolas"/>
              </a:rPr>
              <a:t>14</a:t>
            </a:r>
          </a:p>
        </p:txBody>
      </p:sp>
      <p:sp>
        <p:nvSpPr>
          <p:cNvPr id="8" name="TextBox 7"/>
          <p:cNvSpPr txBox="1"/>
          <p:nvPr/>
        </p:nvSpPr>
        <p:spPr>
          <a:xfrm>
            <a:off x="502920" y="1371600"/>
            <a:ext cx="5897880" cy="3840480"/>
          </a:xfrm>
          <a:prstGeom prst="rect">
            <a:avLst/>
          </a:prstGeom>
          <a:noFill/>
        </p:spPr>
        <p:txBody>
          <a:bodyPr wrap="square" lIns="0" rIns="0" tIns="0" bIns="0">
            <a:spAutoFit/>
          </a:bodyPr>
          <a:lstStyle/>
          <a:p>
            <a:pPr algn="l">
              <a:spcAft>
                <a:spcPts val="1200"/>
              </a:spcAft>
            </a:pPr>
            <a:r>
              <a:rPr sz="1350">
                <a:solidFill>
                  <a:srgbClr val="3EB8F0"/>
                </a:solidFill>
                <a:latin typeface="Segoe UI"/>
              </a:rPr>
              <a:t>•  </a:t>
            </a:r>
            <a:r>
              <a:rPr sz="1350" b="1">
                <a:solidFill>
                  <a:srgbClr val="F5F7FA"/>
                </a:solidFill>
                <a:latin typeface="Segoe UI"/>
              </a:rPr>
              <a:t>Step 1 — Estimate: </a:t>
            </a:r>
            <a:r>
              <a:rPr sz="1350">
                <a:solidFill>
                  <a:srgbClr val="F5F7FA"/>
                </a:solidFill>
                <a:latin typeface="Segoe UI"/>
              </a:rPr>
              <a:t>Kasiski + IC agree on key length 5 (combined score 0.948)</a:t>
            </a:r>
          </a:p>
          <a:p>
            <a:pPr algn="l">
              <a:spcAft>
                <a:spcPts val="1200"/>
              </a:spcAft>
            </a:pPr>
            <a:r>
              <a:rPr sz="1350">
                <a:solidFill>
                  <a:srgbClr val="3EB8F0"/>
                </a:solidFill>
                <a:latin typeface="Segoe UI"/>
              </a:rPr>
              <a:t>•  </a:t>
            </a:r>
            <a:r>
              <a:rPr sz="1350" b="1">
                <a:solidFill>
                  <a:srgbClr val="F5F7FA"/>
                </a:solidFill>
                <a:latin typeface="Segoe UI"/>
              </a:rPr>
              <a:t>Step 2 — Columns: </a:t>
            </a:r>
            <a:r>
              <a:rPr sz="1350">
                <a:solidFill>
                  <a:srgbClr val="F5F7FA"/>
                </a:solidFill>
                <a:latin typeface="Segoe UI"/>
              </a:rPr>
              <a:t>split ciphertext into 5 columns; each behaves like Caesar-shifted English</a:t>
            </a:r>
          </a:p>
          <a:p>
            <a:pPr algn="l">
              <a:spcAft>
                <a:spcPts val="1200"/>
              </a:spcAft>
            </a:pPr>
            <a:r>
              <a:rPr sz="1350">
                <a:solidFill>
                  <a:srgbClr val="3EB8F0"/>
                </a:solidFill>
                <a:latin typeface="Segoe UI"/>
              </a:rPr>
              <a:t>•  </a:t>
            </a:r>
            <a:r>
              <a:rPr sz="1350" b="1">
                <a:solidFill>
                  <a:srgbClr val="F5F7FA"/>
                </a:solidFill>
                <a:latin typeface="Segoe UI"/>
              </a:rPr>
              <a:t>Step 3 — Solve: </a:t>
            </a:r>
            <a:r>
              <a:rPr sz="1350">
                <a:solidFill>
                  <a:srgbClr val="F5F7FA"/>
                </a:solidFill>
                <a:latin typeface="Segoe UI"/>
              </a:rPr>
              <a:t>per-column frequency analysis suggests L, E, M, O, N (scores 50–58)</a:t>
            </a:r>
          </a:p>
          <a:p>
            <a:pPr algn="l">
              <a:spcAft>
                <a:spcPts val="1200"/>
              </a:spcAft>
            </a:pPr>
            <a:r>
              <a:rPr sz="1350">
                <a:solidFill>
                  <a:srgbClr val="3EB8F0"/>
                </a:solidFill>
                <a:latin typeface="Segoe UI"/>
              </a:rPr>
              <a:t>•  </a:t>
            </a:r>
            <a:r>
              <a:rPr sz="1350" b="1">
                <a:solidFill>
                  <a:srgbClr val="F5F7FA"/>
                </a:solidFill>
                <a:latin typeface="Segoe UI"/>
              </a:rPr>
              <a:t>Step 4 — Verify: </a:t>
            </a:r>
            <a:r>
              <a:rPr sz="1350">
                <a:solidFill>
                  <a:srgbClr val="F5F7FA"/>
                </a:solidFill>
                <a:latin typeface="Segoe UI"/>
              </a:rPr>
              <a:t>candidate keys ranked by English-likeness; LEMON decrypts to real prose</a:t>
            </a:r>
          </a:p>
        </p:txBody>
      </p:sp>
      <p:sp>
        <p:nvSpPr>
          <p:cNvPr id="9" name="Rectangle 8"/>
          <p:cNvSpPr/>
          <p:nvPr/>
        </p:nvSpPr>
        <p:spPr>
          <a:xfrm>
            <a:off x="502920" y="5212080"/>
            <a:ext cx="5897880" cy="640080"/>
          </a:xfrm>
          <a:prstGeom prst="rect">
            <a:avLst/>
          </a:prstGeom>
          <a:solidFill>
            <a:srgbClr val="103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349240"/>
            <a:ext cx="5486400" cy="365760"/>
          </a:xfrm>
          <a:prstGeom prst="rect">
            <a:avLst/>
          </a:prstGeom>
          <a:noFill/>
        </p:spPr>
        <p:txBody>
          <a:bodyPr wrap="square" anchor="t" lIns="0" rIns="0" tIns="0" bIns="0">
            <a:spAutoFit/>
          </a:bodyPr>
          <a:lstStyle/>
          <a:p>
            <a:pPr algn="l"/>
            <a:r>
              <a:rPr sz="1300" b="1">
                <a:solidFill>
                  <a:srgbClr val="39D353"/>
                </a:solidFill>
                <a:latin typeface="Segoe UI"/>
              </a:rPr>
              <a:t>Recovered key: LEMON — matches the original 100%</a:t>
            </a:r>
          </a:p>
        </p:txBody>
      </p:sp>
      <p:sp>
        <p:nvSpPr>
          <p:cNvPr id="11" name="Rectangle 10"/>
          <p:cNvSpPr/>
          <p:nvPr/>
        </p:nvSpPr>
        <p:spPr>
          <a:xfrm>
            <a:off x="6619875" y="1392442"/>
            <a:ext cx="5139690" cy="2244315"/>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15_vigenere_b_2.png"/>
          <p:cNvPicPr>
            <a:picLocks noChangeAspect="1"/>
          </p:cNvPicPr>
          <p:nvPr/>
        </p:nvPicPr>
        <p:blipFill>
          <a:blip r:embed="rId2"/>
          <a:stretch>
            <a:fillRect/>
          </a:stretch>
        </p:blipFill>
        <p:spPr>
          <a:xfrm>
            <a:off x="6629400" y="1401967"/>
            <a:ext cx="5120640" cy="2225265"/>
          </a:xfrm>
          <a:prstGeom prst="rect">
            <a:avLst/>
          </a:prstGeom>
        </p:spPr>
      </p:pic>
      <p:sp>
        <p:nvSpPr>
          <p:cNvPr id="13" name="Rectangle 12"/>
          <p:cNvSpPr/>
          <p:nvPr/>
        </p:nvSpPr>
        <p:spPr>
          <a:xfrm>
            <a:off x="6875179" y="3830955"/>
            <a:ext cx="4629082" cy="2487930"/>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16_vigenere_c_1.png"/>
          <p:cNvPicPr>
            <a:picLocks noChangeAspect="1"/>
          </p:cNvPicPr>
          <p:nvPr/>
        </p:nvPicPr>
        <p:blipFill>
          <a:blip r:embed="rId3"/>
          <a:stretch>
            <a:fillRect/>
          </a:stretch>
        </p:blipFill>
        <p:spPr>
          <a:xfrm>
            <a:off x="6884704" y="3840480"/>
            <a:ext cx="4610032" cy="2468880"/>
          </a:xfrm>
          <a:prstGeom prst="rect">
            <a:avLst/>
          </a:prstGeom>
        </p:spPr>
      </p:pic>
      <p:sp>
        <p:nvSpPr>
          <p:cNvPr id="15" name="TextBox 14"/>
          <p:cNvSpPr txBox="1"/>
          <p:nvPr/>
        </p:nvSpPr>
        <p:spPr>
          <a:xfrm>
            <a:off x="502920" y="6492240"/>
            <a:ext cx="10515600" cy="274320"/>
          </a:xfrm>
          <a:prstGeom prst="rect">
            <a:avLst/>
          </a:prstGeom>
          <a:noFill/>
        </p:spPr>
        <p:txBody>
          <a:bodyPr wrap="square" anchor="t" lIns="0" rIns="0" tIns="0" bIns="0">
            <a:spAutoFit/>
          </a:bodyPr>
          <a:lstStyle/>
          <a:p>
            <a:pPr algn="l"/>
            <a:r>
              <a:rPr sz="900" b="0">
                <a:solidFill>
                  <a:srgbClr val="9AB4CC"/>
                </a:solidFill>
                <a:latin typeface="Segoe UI"/>
              </a:rPr>
              <a:t>Screenshots: per-column key letter candidates and the ranked candidate keys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1750"/>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8686800" cy="274320"/>
          </a:xfrm>
          <a:prstGeom prst="rect">
            <a:avLst/>
          </a:prstGeom>
          <a:noFill/>
        </p:spPr>
        <p:txBody>
          <a:bodyPr wrap="square" anchor="t" lIns="0" rIns="0" tIns="0" bIns="0">
            <a:spAutoFit/>
          </a:bodyPr>
          <a:lstStyle/>
          <a:p>
            <a:pPr algn="l"/>
            <a:r>
              <a:rPr sz="1100" b="1">
                <a:solidFill>
                  <a:srgbClr val="3EB8F0"/>
                </a:solidFill>
                <a:latin typeface="Segoe UI"/>
              </a:rPr>
              <a:t>05 · FILES &amp; REPORTS</a:t>
            </a:r>
          </a:p>
        </p:txBody>
      </p:sp>
      <p:sp>
        <p:nvSpPr>
          <p:cNvPr id="5" name="TextBox 4"/>
          <p:cNvSpPr txBox="1"/>
          <p:nvPr/>
        </p:nvSpPr>
        <p:spPr>
          <a:xfrm>
            <a:off x="502920" y="347472"/>
            <a:ext cx="10515600" cy="548640"/>
          </a:xfrm>
          <a:prstGeom prst="rect">
            <a:avLst/>
          </a:prstGeom>
          <a:noFill/>
        </p:spPr>
        <p:txBody>
          <a:bodyPr wrap="square" anchor="t" lIns="0" rIns="0" tIns="0" bIns="0">
            <a:spAutoFit/>
          </a:bodyPr>
          <a:lstStyle/>
          <a:p>
            <a:pPr algn="l"/>
            <a:r>
              <a:rPr sz="2600" b="1">
                <a:solidFill>
                  <a:srgbClr val="F5F7FA"/>
                </a:solidFill>
                <a:latin typeface="Segoe UI"/>
              </a:rPr>
              <a:t>File Encryption / Decryption</a:t>
            </a:r>
          </a:p>
        </p:txBody>
      </p:sp>
      <p:sp>
        <p:nvSpPr>
          <p:cNvPr id="6" name="Rectangle 5"/>
          <p:cNvSpPr/>
          <p:nvPr/>
        </p:nvSpPr>
        <p:spPr>
          <a:xfrm>
            <a:off x="11338560" y="274320"/>
            <a:ext cx="502920" cy="411480"/>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301752"/>
            <a:ext cx="502920" cy="365760"/>
          </a:xfrm>
          <a:prstGeom prst="rect">
            <a:avLst/>
          </a:prstGeom>
          <a:noFill/>
        </p:spPr>
        <p:txBody>
          <a:bodyPr wrap="square" anchor="t" lIns="0" rIns="0" tIns="0" bIns="0">
            <a:spAutoFit/>
          </a:bodyPr>
          <a:lstStyle/>
          <a:p>
            <a:pPr algn="ctr"/>
            <a:r>
              <a:rPr sz="1200" b="1">
                <a:solidFill>
                  <a:srgbClr val="3EB8F0"/>
                </a:solidFill>
                <a:latin typeface="Consolas"/>
              </a:rPr>
              <a:t>15</a:t>
            </a:r>
          </a:p>
        </p:txBody>
      </p:sp>
      <p:sp>
        <p:nvSpPr>
          <p:cNvPr id="8" name="TextBox 7"/>
          <p:cNvSpPr txBox="1"/>
          <p:nvPr/>
        </p:nvSpPr>
        <p:spPr>
          <a:xfrm>
            <a:off x="502920" y="1371600"/>
            <a:ext cx="5989320" cy="2926080"/>
          </a:xfrm>
          <a:prstGeom prst="rect">
            <a:avLst/>
          </a:prstGeom>
          <a:noFill/>
        </p:spPr>
        <p:txBody>
          <a:bodyPr wrap="square" lIns="0" rIns="0" tIns="0" bIns="0">
            <a:spAutoFit/>
          </a:bodyPr>
          <a:lstStyle/>
          <a:p>
            <a:pPr algn="l">
              <a:spcAft>
                <a:spcPts val="1200"/>
              </a:spcAft>
            </a:pPr>
            <a:r>
              <a:rPr sz="1350">
                <a:solidFill>
                  <a:srgbClr val="3EB8F0"/>
                </a:solidFill>
                <a:latin typeface="Segoe UI"/>
              </a:rPr>
              <a:t>•  </a:t>
            </a:r>
            <a:r>
              <a:rPr sz="1350" b="1">
                <a:solidFill>
                  <a:srgbClr val="F5F7FA"/>
                </a:solidFill>
                <a:latin typeface="Segoe UI"/>
              </a:rPr>
              <a:t>Whole-file ciphers: </a:t>
            </a:r>
            <a:r>
              <a:rPr sz="1350">
                <a:solidFill>
                  <a:srgbClr val="F5F7FA"/>
                </a:solidFill>
                <a:latin typeface="Segoe UI"/>
              </a:rPr>
              <a:t>file-caesar and file-vigenere transform entire text files</a:t>
            </a:r>
          </a:p>
          <a:p>
            <a:pPr algn="l">
              <a:spcAft>
                <a:spcPts val="1200"/>
              </a:spcAft>
            </a:pPr>
            <a:r>
              <a:rPr sz="1350">
                <a:solidFill>
                  <a:srgbClr val="3EB8F0"/>
                </a:solidFill>
                <a:latin typeface="Segoe UI"/>
              </a:rPr>
              <a:t>•  </a:t>
            </a:r>
            <a:r>
              <a:rPr sz="1350" b="1">
                <a:solidFill>
                  <a:srgbClr val="F5F7FA"/>
                </a:solidFill>
                <a:latin typeface="Segoe UI"/>
              </a:rPr>
              <a:t>Safe by default: </a:t>
            </a:r>
            <a:r>
              <a:rPr sz="1350">
                <a:solidFill>
                  <a:srgbClr val="F5F7FA"/>
                </a:solidFill>
                <a:latin typeface="Segoe UI"/>
              </a:rPr>
              <a:t>output goes to &lt;input&gt;_out.&lt;ext&gt;; original untouched without --overwrite</a:t>
            </a:r>
          </a:p>
          <a:p>
            <a:pPr algn="l">
              <a:spcAft>
                <a:spcPts val="1200"/>
              </a:spcAft>
            </a:pPr>
            <a:r>
              <a:rPr sz="1350">
                <a:solidFill>
                  <a:srgbClr val="3EB8F0"/>
                </a:solidFill>
                <a:latin typeface="Segoe UI"/>
              </a:rPr>
              <a:t>•  </a:t>
            </a:r>
            <a:r>
              <a:rPr sz="1350" b="1">
                <a:solidFill>
                  <a:srgbClr val="F5F7FA"/>
                </a:solidFill>
                <a:latin typeface="Segoe UI"/>
              </a:rPr>
              <a:t>Round-trip proven: </a:t>
            </a:r>
            <a:r>
              <a:rPr sz="1350">
                <a:solidFill>
                  <a:srgbClr val="F5F7FA"/>
                </a:solidFill>
                <a:latin typeface="Segoe UI"/>
              </a:rPr>
              <a:t>decrypt(encrypt(file)) reproduces the exact original — unit tested</a:t>
            </a:r>
          </a:p>
          <a:p>
            <a:pPr algn="l">
              <a:spcAft>
                <a:spcPts val="1200"/>
              </a:spcAft>
            </a:pPr>
            <a:r>
              <a:rPr sz="1350">
                <a:solidFill>
                  <a:srgbClr val="3EB8F0"/>
                </a:solidFill>
                <a:latin typeface="Segoe UI"/>
              </a:rPr>
              <a:t>•  </a:t>
            </a:r>
            <a:r>
              <a:rPr sz="1350" b="1">
                <a:solidFill>
                  <a:srgbClr val="F5F7FA"/>
                </a:solidFill>
                <a:latin typeface="Segoe UI"/>
              </a:rPr>
              <a:t>Statistics shown: </a:t>
            </a:r>
            <a:r>
              <a:rPr sz="1350">
                <a:solidFill>
                  <a:srgbClr val="F5F7FA"/>
                </a:solidFill>
                <a:latin typeface="Segoe UI"/>
              </a:rPr>
              <a:t>file sizes, letter counts and character classes after every run</a:t>
            </a:r>
          </a:p>
        </p:txBody>
      </p:sp>
      <p:sp>
        <p:nvSpPr>
          <p:cNvPr id="9" name="Rectangle 8"/>
          <p:cNvSpPr/>
          <p:nvPr/>
        </p:nvSpPr>
        <p:spPr>
          <a:xfrm>
            <a:off x="502920" y="4434840"/>
            <a:ext cx="5989320" cy="1645920"/>
          </a:xfrm>
          <a:prstGeom prst="rect">
            <a:avLst/>
          </a:prstGeom>
          <a:solidFill>
            <a:srgbClr val="030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617720"/>
            <a:ext cx="5577840" cy="1371600"/>
          </a:xfrm>
          <a:prstGeom prst="rect">
            <a:avLst/>
          </a:prstGeom>
          <a:noFill/>
        </p:spPr>
        <p:txBody>
          <a:bodyPr wrap="square" anchor="t" lIns="0" rIns="0" tIns="0" bIns="0">
            <a:spAutoFit/>
          </a:bodyPr>
          <a:lstStyle/>
          <a:p>
            <a:pPr algn="l"/>
            <a:r>
              <a:rPr sz="1250" b="1">
                <a:solidFill>
                  <a:srgbClr val="39D353"/>
                </a:solidFill>
                <a:latin typeface="Consolas"/>
              </a:rPr>
              <a:t>$ python main.py file-vigenere \</a:t>
            </a:r>
          </a:p>
          <a:p>
            <a:pPr algn="l">
              <a:spcBef>
                <a:spcPts val="200"/>
              </a:spcBef>
            </a:pPr>
            <a:r>
              <a:rPr sz="1250" b="0">
                <a:solidFill>
                  <a:srgbClr val="F5F7FA"/>
                </a:solidFill>
                <a:latin typeface="Consolas"/>
              </a:rPr>
              <a:t>      --input sample_data/message.txt --key LEMON</a:t>
            </a:r>
          </a:p>
          <a:p>
            <a:pPr algn="l">
              <a:spcBef>
                <a:spcPts val="400"/>
              </a:spcBef>
            </a:pPr>
            <a:r>
              <a:rPr sz="1100" b="0">
                <a:solidFill>
                  <a:srgbClr val="9AB4CC"/>
                </a:solidFill>
                <a:latin typeface="Consolas"/>
              </a:rPr>
              <a:t>  → writes message_out.txt; original file preserved</a:t>
            </a:r>
          </a:p>
        </p:txBody>
      </p:sp>
      <p:sp>
        <p:nvSpPr>
          <p:cNvPr id="11" name="Rectangle 10"/>
          <p:cNvSpPr/>
          <p:nvPr/>
        </p:nvSpPr>
        <p:spPr>
          <a:xfrm>
            <a:off x="6790770" y="1316355"/>
            <a:ext cx="4889339" cy="2396490"/>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18_file_encrypt_1.png"/>
          <p:cNvPicPr>
            <a:picLocks noChangeAspect="1"/>
          </p:cNvPicPr>
          <p:nvPr/>
        </p:nvPicPr>
        <p:blipFill>
          <a:blip r:embed="rId2"/>
          <a:stretch>
            <a:fillRect/>
          </a:stretch>
        </p:blipFill>
        <p:spPr>
          <a:xfrm>
            <a:off x="6800295" y="1325880"/>
            <a:ext cx="4870289" cy="2377440"/>
          </a:xfrm>
          <a:prstGeom prst="rect">
            <a:avLst/>
          </a:prstGeom>
        </p:spPr>
      </p:pic>
      <p:sp>
        <p:nvSpPr>
          <p:cNvPr id="13" name="Rectangle 12"/>
          <p:cNvSpPr/>
          <p:nvPr/>
        </p:nvSpPr>
        <p:spPr>
          <a:xfrm>
            <a:off x="6943910" y="3830955"/>
            <a:ext cx="4583060" cy="2442210"/>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17_file_decrypt_1.png"/>
          <p:cNvPicPr>
            <a:picLocks noChangeAspect="1"/>
          </p:cNvPicPr>
          <p:nvPr/>
        </p:nvPicPr>
        <p:blipFill>
          <a:blip r:embed="rId3"/>
          <a:stretch>
            <a:fillRect/>
          </a:stretch>
        </p:blipFill>
        <p:spPr>
          <a:xfrm>
            <a:off x="6953435" y="3840480"/>
            <a:ext cx="4564010" cy="2423160"/>
          </a:xfrm>
          <a:prstGeom prst="rect">
            <a:avLst/>
          </a:prstGeom>
        </p:spPr>
      </p:pic>
      <p:sp>
        <p:nvSpPr>
          <p:cNvPr id="15" name="TextBox 14"/>
          <p:cNvSpPr txBox="1"/>
          <p:nvPr/>
        </p:nvSpPr>
        <p:spPr>
          <a:xfrm>
            <a:off x="502920" y="6492240"/>
            <a:ext cx="10515600" cy="274320"/>
          </a:xfrm>
          <a:prstGeom prst="rect">
            <a:avLst/>
          </a:prstGeom>
          <a:noFill/>
        </p:spPr>
        <p:txBody>
          <a:bodyPr wrap="square" anchor="t" lIns="0" rIns="0" tIns="0" bIns="0">
            <a:spAutoFit/>
          </a:bodyPr>
          <a:lstStyle/>
          <a:p>
            <a:pPr algn="l"/>
            <a:r>
              <a:rPr sz="900" b="0">
                <a:solidFill>
                  <a:srgbClr val="9AB4CC"/>
                </a:solidFill>
                <a:latin typeface="Segoe UI"/>
              </a:rPr>
              <a:t>Screenshots: encrypting and decrypting files from the CLI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1750"/>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8686800" cy="274320"/>
          </a:xfrm>
          <a:prstGeom prst="rect">
            <a:avLst/>
          </a:prstGeom>
          <a:noFill/>
        </p:spPr>
        <p:txBody>
          <a:bodyPr wrap="square" anchor="t" lIns="0" rIns="0" tIns="0" bIns="0">
            <a:spAutoFit/>
          </a:bodyPr>
          <a:lstStyle/>
          <a:p>
            <a:pPr algn="l"/>
            <a:r>
              <a:rPr sz="1100" b="1">
                <a:solidFill>
                  <a:srgbClr val="3EB8F0"/>
                </a:solidFill>
                <a:latin typeface="Segoe UI"/>
              </a:rPr>
              <a:t>05 · FILES &amp; REPORTS</a:t>
            </a:r>
          </a:p>
        </p:txBody>
      </p:sp>
      <p:sp>
        <p:nvSpPr>
          <p:cNvPr id="5" name="TextBox 4"/>
          <p:cNvSpPr txBox="1"/>
          <p:nvPr/>
        </p:nvSpPr>
        <p:spPr>
          <a:xfrm>
            <a:off x="502920" y="347472"/>
            <a:ext cx="10515600" cy="548640"/>
          </a:xfrm>
          <a:prstGeom prst="rect">
            <a:avLst/>
          </a:prstGeom>
          <a:noFill/>
        </p:spPr>
        <p:txBody>
          <a:bodyPr wrap="square" anchor="t" lIns="0" rIns="0" tIns="0" bIns="0">
            <a:spAutoFit/>
          </a:bodyPr>
          <a:lstStyle/>
          <a:p>
            <a:pPr algn="l"/>
            <a:r>
              <a:rPr sz="2600" b="1">
                <a:solidFill>
                  <a:srgbClr val="F5F7FA"/>
                </a:solidFill>
                <a:latin typeface="Segoe UI"/>
              </a:rPr>
              <a:t>Timestamped Analysis Reports</a:t>
            </a:r>
          </a:p>
        </p:txBody>
      </p:sp>
      <p:sp>
        <p:nvSpPr>
          <p:cNvPr id="6" name="Rectangle 5"/>
          <p:cNvSpPr/>
          <p:nvPr/>
        </p:nvSpPr>
        <p:spPr>
          <a:xfrm>
            <a:off x="11338560" y="274320"/>
            <a:ext cx="502920" cy="411480"/>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301752"/>
            <a:ext cx="502920" cy="365760"/>
          </a:xfrm>
          <a:prstGeom prst="rect">
            <a:avLst/>
          </a:prstGeom>
          <a:noFill/>
        </p:spPr>
        <p:txBody>
          <a:bodyPr wrap="square" anchor="t" lIns="0" rIns="0" tIns="0" bIns="0">
            <a:spAutoFit/>
          </a:bodyPr>
          <a:lstStyle/>
          <a:p>
            <a:pPr algn="ctr"/>
            <a:r>
              <a:rPr sz="1200" b="1">
                <a:solidFill>
                  <a:srgbClr val="3EB8F0"/>
                </a:solidFill>
                <a:latin typeface="Consolas"/>
              </a:rPr>
              <a:t>16</a:t>
            </a:r>
          </a:p>
        </p:txBody>
      </p:sp>
      <p:sp>
        <p:nvSpPr>
          <p:cNvPr id="8" name="TextBox 7"/>
          <p:cNvSpPr txBox="1"/>
          <p:nvPr/>
        </p:nvSpPr>
        <p:spPr>
          <a:xfrm>
            <a:off x="502920" y="1371600"/>
            <a:ext cx="5989320" cy="4389120"/>
          </a:xfrm>
          <a:prstGeom prst="rect">
            <a:avLst/>
          </a:prstGeom>
          <a:noFill/>
        </p:spPr>
        <p:txBody>
          <a:bodyPr wrap="square" lIns="0" rIns="0" tIns="0" bIns="0">
            <a:spAutoFit/>
          </a:bodyPr>
          <a:lstStyle/>
          <a:p>
            <a:pPr algn="l">
              <a:spcAft>
                <a:spcPts val="1200"/>
              </a:spcAft>
            </a:pPr>
            <a:r>
              <a:rPr sz="1350">
                <a:solidFill>
                  <a:srgbClr val="3EB8F0"/>
                </a:solidFill>
                <a:latin typeface="Segoe UI"/>
              </a:rPr>
              <a:t>•  </a:t>
            </a:r>
            <a:r>
              <a:rPr sz="1350" b="1">
                <a:solidFill>
                  <a:srgbClr val="F5F7FA"/>
                </a:solidFill>
                <a:latin typeface="Segoe UI"/>
              </a:rPr>
              <a:t>One flag: </a:t>
            </a:r>
            <a:r>
              <a:rPr sz="1350">
                <a:solidFill>
                  <a:srgbClr val="F5F7FA"/>
                </a:solidFill>
                <a:latin typeface="Segoe UI"/>
              </a:rPr>
              <a:t>append --report to any command to persist the analysis</a:t>
            </a:r>
          </a:p>
          <a:p>
            <a:pPr algn="l">
              <a:spcAft>
                <a:spcPts val="1200"/>
              </a:spcAft>
            </a:pPr>
            <a:r>
              <a:rPr sz="1350">
                <a:solidFill>
                  <a:srgbClr val="3EB8F0"/>
                </a:solidFill>
                <a:latin typeface="Segoe UI"/>
              </a:rPr>
              <a:t>•  </a:t>
            </a:r>
            <a:r>
              <a:rPr sz="1350" b="1">
                <a:solidFill>
                  <a:srgbClr val="F5F7FA"/>
                </a:solidFill>
                <a:latin typeface="Segoe UI"/>
              </a:rPr>
              <a:t>Interactive too: </a:t>
            </a:r>
            <a:r>
              <a:rPr sz="1350">
                <a:solidFill>
                  <a:srgbClr val="F5F7FA"/>
                </a:solidFill>
                <a:latin typeface="Segoe UI"/>
              </a:rPr>
              <a:t>menus ask “Save this analysis as a report? [y/n]”</a:t>
            </a:r>
          </a:p>
          <a:p>
            <a:pPr algn="l">
              <a:spcAft>
                <a:spcPts val="1200"/>
              </a:spcAft>
            </a:pPr>
            <a:r>
              <a:rPr sz="1350">
                <a:solidFill>
                  <a:srgbClr val="3EB8F0"/>
                </a:solidFill>
                <a:latin typeface="Segoe UI"/>
              </a:rPr>
              <a:t>•  </a:t>
            </a:r>
            <a:r>
              <a:rPr sz="1350" b="1">
                <a:solidFill>
                  <a:srgbClr val="F5F7FA"/>
                </a:solidFill>
                <a:latin typeface="Segoe UI"/>
              </a:rPr>
              <a:t>Contents: </a:t>
            </a:r>
            <a:r>
              <a:rPr sz="1350">
                <a:solidFill>
                  <a:srgbClr val="F5F7FA"/>
                </a:solidFill>
                <a:latin typeface="Segoe UI"/>
              </a:rPr>
              <a:t>inputs, statistics, tables, method notes, security assessment, disclaimer</a:t>
            </a:r>
          </a:p>
          <a:p>
            <a:pPr algn="l">
              <a:spcAft>
                <a:spcPts val="1200"/>
              </a:spcAft>
            </a:pPr>
            <a:r>
              <a:rPr sz="1350">
                <a:solidFill>
                  <a:srgbClr val="3EB8F0"/>
                </a:solidFill>
                <a:latin typeface="Segoe UI"/>
              </a:rPr>
              <a:t>•  </a:t>
            </a:r>
            <a:r>
              <a:rPr sz="1350" b="1">
                <a:solidFill>
                  <a:srgbClr val="F5F7FA"/>
                </a:solidFill>
                <a:latin typeface="Segoe UI"/>
              </a:rPr>
              <a:t>Organised: </a:t>
            </a:r>
            <a:r>
              <a:rPr sz="1350">
                <a:solidFill>
                  <a:srgbClr val="F5F7FA"/>
                </a:solidFill>
                <a:latin typeface="Segoe UI"/>
              </a:rPr>
              <a:t>written under reports/ with timestamped filenames</a:t>
            </a:r>
          </a:p>
          <a:p>
            <a:pPr algn="l">
              <a:spcAft>
                <a:spcPts val="1200"/>
              </a:spcAft>
            </a:pPr>
            <a:r>
              <a:rPr sz="1350">
                <a:solidFill>
                  <a:srgbClr val="3EB8F0"/>
                </a:solidFill>
                <a:latin typeface="Segoe UI"/>
              </a:rPr>
              <a:t>•  </a:t>
            </a:r>
            <a:r>
              <a:rPr sz="1350" b="1">
                <a:solidFill>
                  <a:srgbClr val="F5F7FA"/>
                </a:solidFill>
                <a:latin typeface="Segoe UI"/>
              </a:rPr>
              <a:t>Viva-ready: </a:t>
            </a:r>
            <a:r>
              <a:rPr sz="1350">
                <a:solidFill>
                  <a:srgbClr val="F5F7FA"/>
                </a:solidFill>
                <a:latin typeface="Segoe UI"/>
              </a:rPr>
              <a:t>reports double as evidence for the demonstration logbook</a:t>
            </a:r>
          </a:p>
        </p:txBody>
      </p:sp>
      <p:sp>
        <p:nvSpPr>
          <p:cNvPr id="9" name="Rectangle 8"/>
          <p:cNvSpPr/>
          <p:nvPr/>
        </p:nvSpPr>
        <p:spPr>
          <a:xfrm>
            <a:off x="6913393" y="1316355"/>
            <a:ext cx="4644094" cy="2396490"/>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21_report_saved_1.png"/>
          <p:cNvPicPr>
            <a:picLocks noChangeAspect="1"/>
          </p:cNvPicPr>
          <p:nvPr/>
        </p:nvPicPr>
        <p:blipFill>
          <a:blip r:embed="rId2"/>
          <a:stretch>
            <a:fillRect/>
          </a:stretch>
        </p:blipFill>
        <p:spPr>
          <a:xfrm>
            <a:off x="6922918" y="1325880"/>
            <a:ext cx="4625044" cy="2377440"/>
          </a:xfrm>
          <a:prstGeom prst="rect">
            <a:avLst/>
          </a:prstGeom>
        </p:spPr>
      </p:pic>
      <p:sp>
        <p:nvSpPr>
          <p:cNvPr id="11" name="Rectangle 10"/>
          <p:cNvSpPr/>
          <p:nvPr/>
        </p:nvSpPr>
        <p:spPr>
          <a:xfrm>
            <a:off x="7001880" y="3830955"/>
            <a:ext cx="4467119" cy="2442210"/>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22_report_content_2.png"/>
          <p:cNvPicPr>
            <a:picLocks noChangeAspect="1"/>
          </p:cNvPicPr>
          <p:nvPr/>
        </p:nvPicPr>
        <p:blipFill>
          <a:blip r:embed="rId3"/>
          <a:stretch>
            <a:fillRect/>
          </a:stretch>
        </p:blipFill>
        <p:spPr>
          <a:xfrm>
            <a:off x="7011405" y="3840480"/>
            <a:ext cx="4448069" cy="2423160"/>
          </a:xfrm>
          <a:prstGeom prst="rect">
            <a:avLst/>
          </a:prstGeom>
        </p:spPr>
      </p:pic>
      <p:sp>
        <p:nvSpPr>
          <p:cNvPr id="13" name="TextBox 12"/>
          <p:cNvSpPr txBox="1"/>
          <p:nvPr/>
        </p:nvSpPr>
        <p:spPr>
          <a:xfrm>
            <a:off x="502920" y="6492240"/>
            <a:ext cx="10515600" cy="274320"/>
          </a:xfrm>
          <a:prstGeom prst="rect">
            <a:avLst/>
          </a:prstGeom>
          <a:noFill/>
        </p:spPr>
        <p:txBody>
          <a:bodyPr wrap="square" anchor="t" lIns="0" rIns="0" tIns="0" bIns="0">
            <a:spAutoFit/>
          </a:bodyPr>
          <a:lstStyle/>
          <a:p>
            <a:pPr algn="l"/>
            <a:r>
              <a:rPr sz="900" b="0">
                <a:solidFill>
                  <a:srgbClr val="9AB4CC"/>
                </a:solidFill>
                <a:latin typeface="Segoe UI"/>
              </a:rPr>
              <a:t>Screenshots: saving a report and the generated report contents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1750"/>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8686800" cy="274320"/>
          </a:xfrm>
          <a:prstGeom prst="rect">
            <a:avLst/>
          </a:prstGeom>
          <a:noFill/>
        </p:spPr>
        <p:txBody>
          <a:bodyPr wrap="square" anchor="t" lIns="0" rIns="0" tIns="0" bIns="0">
            <a:spAutoFit/>
          </a:bodyPr>
          <a:lstStyle/>
          <a:p>
            <a:pPr algn="l"/>
            <a:r>
              <a:rPr sz="1100" b="1">
                <a:solidFill>
                  <a:srgbClr val="3EB8F0"/>
                </a:solidFill>
                <a:latin typeface="Segoe UI"/>
              </a:rPr>
              <a:t>06 · SECURITY &amp; TESTING</a:t>
            </a:r>
          </a:p>
        </p:txBody>
      </p:sp>
      <p:sp>
        <p:nvSpPr>
          <p:cNvPr id="5" name="TextBox 4"/>
          <p:cNvSpPr txBox="1"/>
          <p:nvPr/>
        </p:nvSpPr>
        <p:spPr>
          <a:xfrm>
            <a:off x="502920" y="347472"/>
            <a:ext cx="10515600" cy="548640"/>
          </a:xfrm>
          <a:prstGeom prst="rect">
            <a:avLst/>
          </a:prstGeom>
          <a:noFill/>
        </p:spPr>
        <p:txBody>
          <a:bodyPr wrap="square" anchor="t" lIns="0" rIns="0" tIns="0" bIns="0">
            <a:spAutoFit/>
          </a:bodyPr>
          <a:lstStyle/>
          <a:p>
            <a:pPr algn="l"/>
            <a:r>
              <a:rPr sz="2600" b="1">
                <a:solidFill>
                  <a:srgbClr val="F5F7FA"/>
                </a:solidFill>
                <a:latin typeface="Segoe UI"/>
              </a:rPr>
              <a:t>Security Analysis Module</a:t>
            </a:r>
          </a:p>
        </p:txBody>
      </p:sp>
      <p:sp>
        <p:nvSpPr>
          <p:cNvPr id="6" name="Rectangle 5"/>
          <p:cNvSpPr/>
          <p:nvPr/>
        </p:nvSpPr>
        <p:spPr>
          <a:xfrm>
            <a:off x="11338560" y="274320"/>
            <a:ext cx="502920" cy="411480"/>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301752"/>
            <a:ext cx="502920" cy="365760"/>
          </a:xfrm>
          <a:prstGeom prst="rect">
            <a:avLst/>
          </a:prstGeom>
          <a:noFill/>
        </p:spPr>
        <p:txBody>
          <a:bodyPr wrap="square" anchor="t" lIns="0" rIns="0" tIns="0" bIns="0">
            <a:spAutoFit/>
          </a:bodyPr>
          <a:lstStyle/>
          <a:p>
            <a:pPr algn="ctr"/>
            <a:r>
              <a:rPr sz="1200" b="1">
                <a:solidFill>
                  <a:srgbClr val="3EB8F0"/>
                </a:solidFill>
                <a:latin typeface="Consolas"/>
              </a:rPr>
              <a:t>17</a:t>
            </a:r>
          </a:p>
        </p:txBody>
      </p:sp>
      <p:sp>
        <p:nvSpPr>
          <p:cNvPr id="8" name="TextBox 7"/>
          <p:cNvSpPr txBox="1"/>
          <p:nvPr/>
        </p:nvSpPr>
        <p:spPr>
          <a:xfrm>
            <a:off x="502920" y="1371600"/>
            <a:ext cx="5989320" cy="3108960"/>
          </a:xfrm>
          <a:prstGeom prst="rect">
            <a:avLst/>
          </a:prstGeom>
          <a:noFill/>
        </p:spPr>
        <p:txBody>
          <a:bodyPr wrap="square" lIns="0" rIns="0" tIns="0" bIns="0">
            <a:spAutoFit/>
          </a:bodyPr>
          <a:lstStyle/>
          <a:p>
            <a:pPr algn="l">
              <a:spcAft>
                <a:spcPts val="1200"/>
              </a:spcAft>
            </a:pPr>
            <a:r>
              <a:rPr sz="1350">
                <a:solidFill>
                  <a:srgbClr val="3EB8F0"/>
                </a:solidFill>
                <a:latin typeface="Segoe UI"/>
              </a:rPr>
              <a:t>•  </a:t>
            </a:r>
            <a:r>
              <a:rPr sz="1350" b="1">
                <a:solidFill>
                  <a:srgbClr val="F5F7FA"/>
                </a:solidFill>
                <a:latin typeface="Segoe UI"/>
              </a:rPr>
              <a:t>Profiles: </a:t>
            </a:r>
            <a:r>
              <a:rPr sz="1350">
                <a:solidFill>
                  <a:srgbClr val="F5F7FA"/>
                </a:solidFill>
                <a:latin typeface="Segoe UI"/>
              </a:rPr>
              <a:t>keyspace size, strengths, weaknesses and known attacks per cipher</a:t>
            </a:r>
          </a:p>
          <a:p>
            <a:pPr algn="l">
              <a:spcAft>
                <a:spcPts val="1200"/>
              </a:spcAft>
            </a:pPr>
            <a:r>
              <a:rPr sz="1350">
                <a:solidFill>
                  <a:srgbClr val="3EB8F0"/>
                </a:solidFill>
                <a:latin typeface="Segoe UI"/>
              </a:rPr>
              <a:t>•  </a:t>
            </a:r>
            <a:r>
              <a:rPr sz="1350" b="1">
                <a:solidFill>
                  <a:srgbClr val="F5F7FA"/>
                </a:solidFill>
                <a:latin typeface="Segoe UI"/>
              </a:rPr>
              <a:t>Caesar verdict: </a:t>
            </a:r>
            <a:r>
              <a:rPr sz="1350">
                <a:solidFill>
                  <a:srgbClr val="F5F7FA"/>
                </a:solidFill>
                <a:latin typeface="Segoe UI"/>
              </a:rPr>
              <a:t>VERY WEAK — 25 effective keys, broken in milliseconds</a:t>
            </a:r>
          </a:p>
          <a:p>
            <a:pPr algn="l">
              <a:spcAft>
                <a:spcPts val="1200"/>
              </a:spcAft>
            </a:pPr>
            <a:r>
              <a:rPr sz="1350">
                <a:solidFill>
                  <a:srgbClr val="3EB8F0"/>
                </a:solidFill>
                <a:latin typeface="Segoe UI"/>
              </a:rPr>
              <a:t>•  </a:t>
            </a:r>
            <a:r>
              <a:rPr sz="1350" b="1">
                <a:solidFill>
                  <a:srgbClr val="F5F7FA"/>
                </a:solidFill>
                <a:latin typeface="Segoe UI"/>
              </a:rPr>
              <a:t>Vigenère verdict: </a:t>
            </a:r>
            <a:r>
              <a:rPr sz="1350">
                <a:solidFill>
                  <a:srgbClr val="F5F7FA"/>
                </a:solidFill>
                <a:latin typeface="Segoe UI"/>
              </a:rPr>
              <a:t>WEAK — resisted attack for 3 centuries until Kasiski (1863)</a:t>
            </a:r>
          </a:p>
          <a:p>
            <a:pPr algn="l">
              <a:spcAft>
                <a:spcPts val="1200"/>
              </a:spcAft>
            </a:pPr>
            <a:r>
              <a:rPr sz="1350">
                <a:solidFill>
                  <a:srgbClr val="3EB8F0"/>
                </a:solidFill>
                <a:latin typeface="Segoe UI"/>
              </a:rPr>
              <a:t>•  </a:t>
            </a:r>
            <a:r>
              <a:rPr sz="1350" b="1">
                <a:solidFill>
                  <a:srgbClr val="F5F7FA"/>
                </a:solidFill>
                <a:latin typeface="Segoe UI"/>
              </a:rPr>
              <a:t>Built-in disclaimer: </a:t>
            </a:r>
            <a:r>
              <a:rPr sz="1350">
                <a:solidFill>
                  <a:srgbClr val="F5F7FA"/>
                </a:solidFill>
                <a:latin typeface="Segoe UI"/>
              </a:rPr>
              <a:t>educational use only — printed on every run</a:t>
            </a:r>
          </a:p>
        </p:txBody>
      </p:sp>
      <p:sp>
        <p:nvSpPr>
          <p:cNvPr id="9" name="Rectangle 8"/>
          <p:cNvSpPr/>
          <p:nvPr/>
        </p:nvSpPr>
        <p:spPr>
          <a:xfrm>
            <a:off x="502920" y="4709160"/>
            <a:ext cx="5989320" cy="1371600"/>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864608"/>
            <a:ext cx="5532120" cy="1097280"/>
          </a:xfrm>
          <a:prstGeom prst="rect">
            <a:avLst/>
          </a:prstGeom>
          <a:noFill/>
        </p:spPr>
        <p:txBody>
          <a:bodyPr wrap="square" anchor="t" lIns="0" rIns="0" tIns="0" bIns="0">
            <a:spAutoFit/>
          </a:bodyPr>
          <a:lstStyle/>
          <a:p>
            <a:pPr algn="l"/>
            <a:r>
              <a:rPr sz="1300" b="1">
                <a:solidFill>
                  <a:srgbClr val="3EB8F0"/>
                </a:solidFill>
                <a:latin typeface="Segoe UI"/>
              </a:rPr>
              <a:t>Why teach broken ciphers?</a:t>
            </a:r>
          </a:p>
          <a:p>
            <a:pPr algn="l">
              <a:spcBef>
                <a:spcPts val="400"/>
              </a:spcBef>
            </a:pPr>
            <a:r>
              <a:rPr sz="1150" b="0">
                <a:solidFill>
                  <a:srgbClr val="F5F7FA"/>
                </a:solidFill>
                <a:latin typeface="Segoe UI"/>
              </a:rPr>
              <a:t>They are the only ciphers whose every attack step can be performed and understood by hand — the clearest motivation for modern cryptography.</a:t>
            </a:r>
          </a:p>
        </p:txBody>
      </p:sp>
      <p:sp>
        <p:nvSpPr>
          <p:cNvPr id="11" name="Rectangle 10"/>
          <p:cNvSpPr/>
          <p:nvPr/>
        </p:nvSpPr>
        <p:spPr>
          <a:xfrm>
            <a:off x="6711315" y="1337157"/>
            <a:ext cx="5048250" cy="2354886"/>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19_security_caesar_2.png"/>
          <p:cNvPicPr>
            <a:picLocks noChangeAspect="1"/>
          </p:cNvPicPr>
          <p:nvPr/>
        </p:nvPicPr>
        <p:blipFill>
          <a:blip r:embed="rId2"/>
          <a:stretch>
            <a:fillRect/>
          </a:stretch>
        </p:blipFill>
        <p:spPr>
          <a:xfrm>
            <a:off x="6720840" y="1346682"/>
            <a:ext cx="5029200" cy="2335836"/>
          </a:xfrm>
          <a:prstGeom prst="rect">
            <a:avLst/>
          </a:prstGeom>
        </p:spPr>
      </p:pic>
      <p:sp>
        <p:nvSpPr>
          <p:cNvPr id="13" name="Rectangle 12"/>
          <p:cNvSpPr/>
          <p:nvPr/>
        </p:nvSpPr>
        <p:spPr>
          <a:xfrm>
            <a:off x="6963584" y="3830955"/>
            <a:ext cx="4543711" cy="2442210"/>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20_security_vigenere_1.png"/>
          <p:cNvPicPr>
            <a:picLocks noChangeAspect="1"/>
          </p:cNvPicPr>
          <p:nvPr/>
        </p:nvPicPr>
        <p:blipFill>
          <a:blip r:embed="rId3"/>
          <a:stretch>
            <a:fillRect/>
          </a:stretch>
        </p:blipFill>
        <p:spPr>
          <a:xfrm>
            <a:off x="6973109" y="3840480"/>
            <a:ext cx="4524661" cy="2423160"/>
          </a:xfrm>
          <a:prstGeom prst="rect">
            <a:avLst/>
          </a:prstGeom>
        </p:spPr>
      </p:pic>
      <p:sp>
        <p:nvSpPr>
          <p:cNvPr id="15" name="TextBox 14"/>
          <p:cNvSpPr txBox="1"/>
          <p:nvPr/>
        </p:nvSpPr>
        <p:spPr>
          <a:xfrm>
            <a:off x="502920" y="6492240"/>
            <a:ext cx="10515600" cy="274320"/>
          </a:xfrm>
          <a:prstGeom prst="rect">
            <a:avLst/>
          </a:prstGeom>
          <a:noFill/>
        </p:spPr>
        <p:txBody>
          <a:bodyPr wrap="square" anchor="t" lIns="0" rIns="0" tIns="0" bIns="0">
            <a:spAutoFit/>
          </a:bodyPr>
          <a:lstStyle/>
          <a:p>
            <a:pPr algn="l"/>
            <a:r>
              <a:rPr sz="900" b="0">
                <a:solidFill>
                  <a:srgbClr val="9AB4CC"/>
                </a:solidFill>
                <a:latin typeface="Segoe UI"/>
              </a:rPr>
              <a:t>Screenshots: Caesar profile (VERY WEAK) and Vigenère profile (WEAK)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1750"/>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8686800" cy="274320"/>
          </a:xfrm>
          <a:prstGeom prst="rect">
            <a:avLst/>
          </a:prstGeom>
          <a:noFill/>
        </p:spPr>
        <p:txBody>
          <a:bodyPr wrap="square" anchor="t" lIns="0" rIns="0" tIns="0" bIns="0">
            <a:spAutoFit/>
          </a:bodyPr>
          <a:lstStyle/>
          <a:p>
            <a:pPr algn="l"/>
            <a:r>
              <a:rPr sz="1100" b="1">
                <a:solidFill>
                  <a:srgbClr val="3EB8F0"/>
                </a:solidFill>
                <a:latin typeface="Segoe UI"/>
              </a:rPr>
              <a:t>06 · SECURITY &amp; TESTING</a:t>
            </a:r>
          </a:p>
        </p:txBody>
      </p:sp>
      <p:sp>
        <p:nvSpPr>
          <p:cNvPr id="5" name="TextBox 4"/>
          <p:cNvSpPr txBox="1"/>
          <p:nvPr/>
        </p:nvSpPr>
        <p:spPr>
          <a:xfrm>
            <a:off x="502920" y="347472"/>
            <a:ext cx="10515600" cy="548640"/>
          </a:xfrm>
          <a:prstGeom prst="rect">
            <a:avLst/>
          </a:prstGeom>
          <a:noFill/>
        </p:spPr>
        <p:txBody>
          <a:bodyPr wrap="square" anchor="t" lIns="0" rIns="0" tIns="0" bIns="0">
            <a:spAutoFit/>
          </a:bodyPr>
          <a:lstStyle/>
          <a:p>
            <a:pPr algn="l"/>
            <a:r>
              <a:rPr sz="2600" b="1">
                <a:solidFill>
                  <a:srgbClr val="F5F7FA"/>
                </a:solidFill>
                <a:latin typeface="Segoe UI"/>
              </a:rPr>
              <a:t>Automated Testing — 163 Tests, All Green</a:t>
            </a:r>
          </a:p>
        </p:txBody>
      </p:sp>
      <p:sp>
        <p:nvSpPr>
          <p:cNvPr id="6" name="Rectangle 5"/>
          <p:cNvSpPr/>
          <p:nvPr/>
        </p:nvSpPr>
        <p:spPr>
          <a:xfrm>
            <a:off x="11338560" y="274320"/>
            <a:ext cx="502920" cy="411480"/>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301752"/>
            <a:ext cx="502920" cy="365760"/>
          </a:xfrm>
          <a:prstGeom prst="rect">
            <a:avLst/>
          </a:prstGeom>
          <a:noFill/>
        </p:spPr>
        <p:txBody>
          <a:bodyPr wrap="square" anchor="t" lIns="0" rIns="0" tIns="0" bIns="0">
            <a:spAutoFit/>
          </a:bodyPr>
          <a:lstStyle/>
          <a:p>
            <a:pPr algn="ctr"/>
            <a:r>
              <a:rPr sz="1200" b="1">
                <a:solidFill>
                  <a:srgbClr val="3EB8F0"/>
                </a:solidFill>
                <a:latin typeface="Consolas"/>
              </a:rPr>
              <a:t>18</a:t>
            </a:r>
          </a:p>
        </p:txBody>
      </p:sp>
      <p:sp>
        <p:nvSpPr>
          <p:cNvPr id="8" name="TextBox 7"/>
          <p:cNvSpPr txBox="1"/>
          <p:nvPr/>
        </p:nvSpPr>
        <p:spPr>
          <a:xfrm>
            <a:off x="502920" y="1115568"/>
            <a:ext cx="11155680" cy="365760"/>
          </a:xfrm>
          <a:prstGeom prst="rect">
            <a:avLst/>
          </a:prstGeom>
          <a:noFill/>
        </p:spPr>
        <p:txBody>
          <a:bodyPr wrap="square" anchor="t" lIns="0" rIns="0" tIns="0" bIns="0">
            <a:spAutoFit/>
          </a:bodyPr>
          <a:lstStyle/>
          <a:p>
            <a:pPr algn="l"/>
            <a:r>
              <a:rPr sz="1400" b="1">
                <a:solidFill>
                  <a:srgbClr val="39D353"/>
                </a:solidFill>
                <a:latin typeface="Consolas"/>
              </a:rPr>
              <a:t>$ python -m unittest discover -s tests -v   →   Ran 163 tests in 0.606s — OK</a:t>
            </a:r>
          </a:p>
        </p:txBody>
      </p:sp>
      <p:sp>
        <p:nvSpPr>
          <p:cNvPr id="9" name="Rectangle 8"/>
          <p:cNvSpPr/>
          <p:nvPr/>
        </p:nvSpPr>
        <p:spPr>
          <a:xfrm>
            <a:off x="2944918" y="1544955"/>
            <a:ext cx="6271683" cy="3219450"/>
          </a:xfrm>
          <a:prstGeom prst="rect">
            <a:avLst/>
          </a:prstGeom>
          <a:noFill/>
          <a:ln w="12700">
            <a:solidFill>
              <a:srgbClr val="1E8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23_tests_1.png"/>
          <p:cNvPicPr>
            <a:picLocks noChangeAspect="1"/>
          </p:cNvPicPr>
          <p:nvPr/>
        </p:nvPicPr>
        <p:blipFill>
          <a:blip r:embed="rId2"/>
          <a:stretch>
            <a:fillRect/>
          </a:stretch>
        </p:blipFill>
        <p:spPr>
          <a:xfrm>
            <a:off x="2954443" y="1554480"/>
            <a:ext cx="6252633" cy="3200400"/>
          </a:xfrm>
          <a:prstGeom prst="rect">
            <a:avLst/>
          </a:prstGeom>
        </p:spPr>
      </p:pic>
      <p:sp>
        <p:nvSpPr>
          <p:cNvPr id="11" name="Rectangle 10"/>
          <p:cNvSpPr/>
          <p:nvPr/>
        </p:nvSpPr>
        <p:spPr>
          <a:xfrm>
            <a:off x="502920" y="4983480"/>
            <a:ext cx="2697480" cy="1051560"/>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4983480"/>
            <a:ext cx="2697480" cy="64008"/>
          </a:xfrm>
          <a:prstGeom prst="rect">
            <a:avLst/>
          </a:prstGeom>
          <a:solidFill>
            <a:srgbClr val="39D3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138928"/>
            <a:ext cx="2423160" cy="320040"/>
          </a:xfrm>
          <a:prstGeom prst="rect">
            <a:avLst/>
          </a:prstGeom>
          <a:noFill/>
        </p:spPr>
        <p:txBody>
          <a:bodyPr wrap="square" anchor="t" lIns="0" rIns="0" tIns="0" bIns="0">
            <a:spAutoFit/>
          </a:bodyPr>
          <a:lstStyle/>
          <a:p>
            <a:pPr algn="l"/>
            <a:r>
              <a:rPr sz="1250" b="1">
                <a:solidFill>
                  <a:srgbClr val="F5F7FA"/>
                </a:solidFill>
                <a:latin typeface="Segoe UI"/>
              </a:rPr>
              <a:t>Ciphers</a:t>
            </a:r>
          </a:p>
        </p:txBody>
      </p:sp>
      <p:sp>
        <p:nvSpPr>
          <p:cNvPr id="14" name="TextBox 13"/>
          <p:cNvSpPr txBox="1"/>
          <p:nvPr/>
        </p:nvSpPr>
        <p:spPr>
          <a:xfrm>
            <a:off x="640080" y="5468112"/>
            <a:ext cx="2423160" cy="502920"/>
          </a:xfrm>
          <a:prstGeom prst="rect">
            <a:avLst/>
          </a:prstGeom>
          <a:noFill/>
        </p:spPr>
        <p:txBody>
          <a:bodyPr wrap="square" anchor="t" lIns="0" rIns="0" tIns="0" bIns="0">
            <a:spAutoFit/>
          </a:bodyPr>
          <a:lstStyle/>
          <a:p>
            <a:pPr algn="l"/>
            <a:r>
              <a:rPr sz="1000" b="0">
                <a:solidFill>
                  <a:srgbClr val="9AB4CC"/>
                </a:solidFill>
                <a:latin typeface="Segoe UI"/>
              </a:rPr>
              <a:t>round-trips, wrap-around, invalid input</a:t>
            </a:r>
          </a:p>
        </p:txBody>
      </p:sp>
      <p:sp>
        <p:nvSpPr>
          <p:cNvPr id="15" name="Rectangle 14"/>
          <p:cNvSpPr/>
          <p:nvPr/>
        </p:nvSpPr>
        <p:spPr>
          <a:xfrm>
            <a:off x="3328416" y="4983480"/>
            <a:ext cx="2697480" cy="1051560"/>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28416" y="4983480"/>
            <a:ext cx="2697480" cy="64008"/>
          </a:xfrm>
          <a:prstGeom prst="rect">
            <a:avLst/>
          </a:prstGeom>
          <a:solidFill>
            <a:srgbClr val="39D3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65576" y="5138928"/>
            <a:ext cx="2423160" cy="320040"/>
          </a:xfrm>
          <a:prstGeom prst="rect">
            <a:avLst/>
          </a:prstGeom>
          <a:noFill/>
        </p:spPr>
        <p:txBody>
          <a:bodyPr wrap="square" anchor="t" lIns="0" rIns="0" tIns="0" bIns="0">
            <a:spAutoFit/>
          </a:bodyPr>
          <a:lstStyle/>
          <a:p>
            <a:pPr algn="l"/>
            <a:r>
              <a:rPr sz="1250" b="1">
                <a:solidFill>
                  <a:srgbClr val="F5F7FA"/>
                </a:solidFill>
                <a:latin typeface="Segoe UI"/>
              </a:rPr>
              <a:t>Cryptanalysis</a:t>
            </a:r>
          </a:p>
        </p:txBody>
      </p:sp>
      <p:sp>
        <p:nvSpPr>
          <p:cNvPr id="18" name="TextBox 17"/>
          <p:cNvSpPr txBox="1"/>
          <p:nvPr/>
        </p:nvSpPr>
        <p:spPr>
          <a:xfrm>
            <a:off x="3465576" y="5468112"/>
            <a:ext cx="2423160" cy="502920"/>
          </a:xfrm>
          <a:prstGeom prst="rect">
            <a:avLst/>
          </a:prstGeom>
          <a:noFill/>
        </p:spPr>
        <p:txBody>
          <a:bodyPr wrap="square" anchor="t" lIns="0" rIns="0" tIns="0" bIns="0">
            <a:spAutoFit/>
          </a:bodyPr>
          <a:lstStyle/>
          <a:p>
            <a:pPr algn="l"/>
            <a:r>
              <a:rPr sz="1000" b="0">
                <a:solidFill>
                  <a:srgbClr val="9AB4CC"/>
                </a:solidFill>
                <a:latin typeface="Segoe UI"/>
              </a:rPr>
              <a:t>IC values, Kasiski maths, key recovery</a:t>
            </a:r>
          </a:p>
        </p:txBody>
      </p:sp>
      <p:sp>
        <p:nvSpPr>
          <p:cNvPr id="19" name="Rectangle 18"/>
          <p:cNvSpPr/>
          <p:nvPr/>
        </p:nvSpPr>
        <p:spPr>
          <a:xfrm>
            <a:off x="6153912" y="4983480"/>
            <a:ext cx="2697480" cy="1051560"/>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53912" y="4983480"/>
            <a:ext cx="2697480" cy="64008"/>
          </a:xfrm>
          <a:prstGeom prst="rect">
            <a:avLst/>
          </a:prstGeom>
          <a:solidFill>
            <a:srgbClr val="39D3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91072" y="5138928"/>
            <a:ext cx="2423160" cy="320040"/>
          </a:xfrm>
          <a:prstGeom prst="rect">
            <a:avLst/>
          </a:prstGeom>
          <a:noFill/>
        </p:spPr>
        <p:txBody>
          <a:bodyPr wrap="square" anchor="t" lIns="0" rIns="0" tIns="0" bIns="0">
            <a:spAutoFit/>
          </a:bodyPr>
          <a:lstStyle/>
          <a:p>
            <a:pPr algn="l"/>
            <a:r>
              <a:rPr sz="1250" b="1">
                <a:solidFill>
                  <a:srgbClr val="F5F7FA"/>
                </a:solidFill>
                <a:latin typeface="Segoe UI"/>
              </a:rPr>
              <a:t>CLI</a:t>
            </a:r>
          </a:p>
        </p:txBody>
      </p:sp>
      <p:sp>
        <p:nvSpPr>
          <p:cNvPr id="22" name="TextBox 21"/>
          <p:cNvSpPr txBox="1"/>
          <p:nvPr/>
        </p:nvSpPr>
        <p:spPr>
          <a:xfrm>
            <a:off x="6291072" y="5468112"/>
            <a:ext cx="2423160" cy="502920"/>
          </a:xfrm>
          <a:prstGeom prst="rect">
            <a:avLst/>
          </a:prstGeom>
          <a:noFill/>
        </p:spPr>
        <p:txBody>
          <a:bodyPr wrap="square" anchor="t" lIns="0" rIns="0" tIns="0" bIns="0">
            <a:spAutoFit/>
          </a:bodyPr>
          <a:lstStyle/>
          <a:p>
            <a:pPr algn="l"/>
            <a:r>
              <a:rPr sz="1000" b="0">
                <a:solidFill>
                  <a:srgbClr val="9AB4CC"/>
                </a:solidFill>
                <a:latin typeface="Segoe UI"/>
              </a:rPr>
              <a:t>all commands, errors, interactive flows</a:t>
            </a:r>
          </a:p>
        </p:txBody>
      </p:sp>
      <p:sp>
        <p:nvSpPr>
          <p:cNvPr id="23" name="Rectangle 22"/>
          <p:cNvSpPr/>
          <p:nvPr/>
        </p:nvSpPr>
        <p:spPr>
          <a:xfrm>
            <a:off x="8979408" y="4983480"/>
            <a:ext cx="2697480" cy="1051560"/>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79408" y="4983480"/>
            <a:ext cx="2697480" cy="64008"/>
          </a:xfrm>
          <a:prstGeom prst="rect">
            <a:avLst/>
          </a:prstGeom>
          <a:solidFill>
            <a:srgbClr val="39D3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16568" y="5138928"/>
            <a:ext cx="2423160" cy="320040"/>
          </a:xfrm>
          <a:prstGeom prst="rect">
            <a:avLst/>
          </a:prstGeom>
          <a:noFill/>
        </p:spPr>
        <p:txBody>
          <a:bodyPr wrap="square" anchor="t" lIns="0" rIns="0" tIns="0" bIns="0">
            <a:spAutoFit/>
          </a:bodyPr>
          <a:lstStyle/>
          <a:p>
            <a:pPr algn="l"/>
            <a:r>
              <a:rPr sz="1250" b="1">
                <a:solidFill>
                  <a:srgbClr val="F5F7FA"/>
                </a:solidFill>
                <a:latin typeface="Segoe UI"/>
              </a:rPr>
              <a:t>Files &amp; Reports</a:t>
            </a:r>
          </a:p>
        </p:txBody>
      </p:sp>
      <p:sp>
        <p:nvSpPr>
          <p:cNvPr id="26" name="TextBox 25"/>
          <p:cNvSpPr txBox="1"/>
          <p:nvPr/>
        </p:nvSpPr>
        <p:spPr>
          <a:xfrm>
            <a:off x="9116568" y="5468112"/>
            <a:ext cx="2423160" cy="502920"/>
          </a:xfrm>
          <a:prstGeom prst="rect">
            <a:avLst/>
          </a:prstGeom>
          <a:noFill/>
        </p:spPr>
        <p:txBody>
          <a:bodyPr wrap="square" anchor="t" lIns="0" rIns="0" tIns="0" bIns="0">
            <a:spAutoFit/>
          </a:bodyPr>
          <a:lstStyle/>
          <a:p>
            <a:pPr algn="l"/>
            <a:r>
              <a:rPr sz="1000" b="0">
                <a:solidFill>
                  <a:srgbClr val="9AB4CC"/>
                </a:solidFill>
                <a:latin typeface="Segoe UI"/>
              </a:rPr>
              <a:t>round-trips, overwrite protection</a:t>
            </a:r>
          </a:p>
        </p:txBody>
      </p:sp>
      <p:sp>
        <p:nvSpPr>
          <p:cNvPr id="27" name="TextBox 26"/>
          <p:cNvSpPr txBox="1"/>
          <p:nvPr/>
        </p:nvSpPr>
        <p:spPr>
          <a:xfrm>
            <a:off x="502920" y="6492240"/>
            <a:ext cx="10515600" cy="274320"/>
          </a:xfrm>
          <a:prstGeom prst="rect">
            <a:avLst/>
          </a:prstGeom>
          <a:noFill/>
        </p:spPr>
        <p:txBody>
          <a:bodyPr wrap="square" anchor="t" lIns="0" rIns="0" tIns="0" bIns="0">
            <a:spAutoFit/>
          </a:bodyPr>
          <a:lstStyle/>
          <a:p>
            <a:pPr algn="l"/>
            <a:r>
              <a:rPr sz="900" b="0">
                <a:solidFill>
                  <a:srgbClr val="9AB4CC"/>
                </a:solidFill>
                <a:latin typeface="Segoe UI"/>
              </a:rPr>
              <a:t>Quality practice: tests written alongside every feature module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1750"/>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8686800" cy="274320"/>
          </a:xfrm>
          <a:prstGeom prst="rect">
            <a:avLst/>
          </a:prstGeom>
          <a:noFill/>
        </p:spPr>
        <p:txBody>
          <a:bodyPr wrap="square" anchor="t" lIns="0" rIns="0" tIns="0" bIns="0">
            <a:spAutoFit/>
          </a:bodyPr>
          <a:lstStyle/>
          <a:p>
            <a:pPr algn="l"/>
            <a:r>
              <a:rPr sz="1100" b="1">
                <a:solidFill>
                  <a:srgbClr val="3EB8F0"/>
                </a:solidFill>
                <a:latin typeface="Segoe UI"/>
              </a:rPr>
              <a:t>07 · CONCLUSION</a:t>
            </a:r>
          </a:p>
        </p:txBody>
      </p:sp>
      <p:sp>
        <p:nvSpPr>
          <p:cNvPr id="5" name="TextBox 4"/>
          <p:cNvSpPr txBox="1"/>
          <p:nvPr/>
        </p:nvSpPr>
        <p:spPr>
          <a:xfrm>
            <a:off x="502920" y="347472"/>
            <a:ext cx="10515600" cy="548640"/>
          </a:xfrm>
          <a:prstGeom prst="rect">
            <a:avLst/>
          </a:prstGeom>
          <a:noFill/>
        </p:spPr>
        <p:txBody>
          <a:bodyPr wrap="square" anchor="t" lIns="0" rIns="0" tIns="0" bIns="0">
            <a:spAutoFit/>
          </a:bodyPr>
          <a:lstStyle/>
          <a:p>
            <a:pPr algn="l"/>
            <a:r>
              <a:rPr sz="2600" b="1">
                <a:solidFill>
                  <a:srgbClr val="F5F7FA"/>
                </a:solidFill>
                <a:latin typeface="Segoe UI"/>
              </a:rPr>
              <a:t>Results, Limitations &amp; Future Work</a:t>
            </a:r>
          </a:p>
        </p:txBody>
      </p:sp>
      <p:sp>
        <p:nvSpPr>
          <p:cNvPr id="6" name="Rectangle 5"/>
          <p:cNvSpPr/>
          <p:nvPr/>
        </p:nvSpPr>
        <p:spPr>
          <a:xfrm>
            <a:off x="11338560" y="274320"/>
            <a:ext cx="502920" cy="411480"/>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301752"/>
            <a:ext cx="502920" cy="365760"/>
          </a:xfrm>
          <a:prstGeom prst="rect">
            <a:avLst/>
          </a:prstGeom>
          <a:noFill/>
        </p:spPr>
        <p:txBody>
          <a:bodyPr wrap="square" anchor="t" lIns="0" rIns="0" tIns="0" bIns="0">
            <a:spAutoFit/>
          </a:bodyPr>
          <a:lstStyle/>
          <a:p>
            <a:pPr algn="ctr"/>
            <a:r>
              <a:rPr sz="1200" b="1">
                <a:solidFill>
                  <a:srgbClr val="3EB8F0"/>
                </a:solidFill>
                <a:latin typeface="Consolas"/>
              </a:rPr>
              <a:t>19</a:t>
            </a:r>
          </a:p>
        </p:txBody>
      </p:sp>
      <p:sp>
        <p:nvSpPr>
          <p:cNvPr id="8" name="Rectangle 7"/>
          <p:cNvSpPr/>
          <p:nvPr/>
        </p:nvSpPr>
        <p:spPr>
          <a:xfrm>
            <a:off x="502920" y="1325880"/>
            <a:ext cx="3611880" cy="4069080"/>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325880"/>
            <a:ext cx="3611880" cy="82296"/>
          </a:xfrm>
          <a:prstGeom prst="rect">
            <a:avLst/>
          </a:prstGeom>
          <a:solidFill>
            <a:srgbClr val="39D3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499616"/>
            <a:ext cx="3154680" cy="365760"/>
          </a:xfrm>
          <a:prstGeom prst="rect">
            <a:avLst/>
          </a:prstGeom>
          <a:noFill/>
        </p:spPr>
        <p:txBody>
          <a:bodyPr wrap="square" anchor="t" lIns="0" rIns="0" tIns="0" bIns="0">
            <a:spAutoFit/>
          </a:bodyPr>
          <a:lstStyle/>
          <a:p>
            <a:pPr algn="l"/>
            <a:r>
              <a:rPr sz="1400" b="1">
                <a:solidFill>
                  <a:srgbClr val="39D353"/>
                </a:solidFill>
                <a:latin typeface="Segoe UI"/>
              </a:rPr>
              <a:t>ACHIEVED</a:t>
            </a:r>
          </a:p>
        </p:txBody>
      </p:sp>
      <p:sp>
        <p:nvSpPr>
          <p:cNvPr id="11" name="TextBox 10"/>
          <p:cNvSpPr txBox="1"/>
          <p:nvPr/>
        </p:nvSpPr>
        <p:spPr>
          <a:xfrm>
            <a:off x="731520" y="1956816"/>
            <a:ext cx="3154680" cy="3291840"/>
          </a:xfrm>
          <a:prstGeom prst="rect">
            <a:avLst/>
          </a:prstGeom>
          <a:noFill/>
        </p:spPr>
        <p:txBody>
          <a:bodyPr wrap="square" lIns="0" rIns="0" tIns="0" bIns="0">
            <a:spAutoFit/>
          </a:bodyPr>
          <a:lstStyle/>
          <a:p>
            <a:pPr algn="l">
              <a:spcAft>
                <a:spcPts val="900"/>
              </a:spcAft>
            </a:pPr>
            <a:r>
              <a:rPr sz="1150">
                <a:solidFill>
                  <a:srgbClr val="3EB8F0"/>
                </a:solidFill>
                <a:latin typeface="Segoe UI"/>
              </a:rPr>
              <a:t>•  </a:t>
            </a:r>
            <a:r>
              <a:rPr sz="1150">
                <a:solidFill>
                  <a:srgbClr val="F5F7FA"/>
                </a:solidFill>
                <a:latin typeface="Segoe UI"/>
              </a:rPr>
              <a:t>Working encrypt/decrypt for 2 ciphers</a:t>
            </a:r>
          </a:p>
          <a:p>
            <a:pPr algn="l">
              <a:spcAft>
                <a:spcPts val="900"/>
              </a:spcAft>
            </a:pPr>
            <a:r>
              <a:rPr sz="1150">
                <a:solidFill>
                  <a:srgbClr val="3EB8F0"/>
                </a:solidFill>
                <a:latin typeface="Segoe UI"/>
              </a:rPr>
              <a:t>•  </a:t>
            </a:r>
            <a:r>
              <a:rPr sz="1150">
                <a:solidFill>
                  <a:srgbClr val="F5F7FA"/>
                </a:solidFill>
                <a:latin typeface="Segoe UI"/>
              </a:rPr>
              <a:t>4 cryptanalysis attacks automated</a:t>
            </a:r>
          </a:p>
          <a:p>
            <a:pPr algn="l">
              <a:spcAft>
                <a:spcPts val="900"/>
              </a:spcAft>
            </a:pPr>
            <a:r>
              <a:rPr sz="1150">
                <a:solidFill>
                  <a:srgbClr val="3EB8F0"/>
                </a:solidFill>
                <a:latin typeface="Segoe UI"/>
              </a:rPr>
              <a:t>•  </a:t>
            </a:r>
            <a:r>
              <a:rPr sz="1150">
                <a:solidFill>
                  <a:srgbClr val="F5F7FA"/>
                </a:solidFill>
                <a:latin typeface="Segoe UI"/>
              </a:rPr>
              <a:t>Key LEMON recovered from ciphertext</a:t>
            </a:r>
          </a:p>
          <a:p>
            <a:pPr algn="l">
              <a:spcAft>
                <a:spcPts val="900"/>
              </a:spcAft>
            </a:pPr>
            <a:r>
              <a:rPr sz="1150">
                <a:solidFill>
                  <a:srgbClr val="3EB8F0"/>
                </a:solidFill>
                <a:latin typeface="Segoe UI"/>
              </a:rPr>
              <a:t>•  </a:t>
            </a:r>
            <a:r>
              <a:rPr sz="1150">
                <a:solidFill>
                  <a:srgbClr val="F5F7FA"/>
                </a:solidFill>
                <a:latin typeface="Segoe UI"/>
              </a:rPr>
              <a:t>163/163 tests passing in 0.6 s</a:t>
            </a:r>
          </a:p>
          <a:p>
            <a:pPr algn="l">
              <a:spcAft>
                <a:spcPts val="900"/>
              </a:spcAft>
            </a:pPr>
            <a:r>
              <a:rPr sz="1150">
                <a:solidFill>
                  <a:srgbClr val="3EB8F0"/>
                </a:solidFill>
                <a:latin typeface="Segoe UI"/>
              </a:rPr>
              <a:t>•  </a:t>
            </a:r>
            <a:r>
              <a:rPr sz="1150">
                <a:solidFill>
                  <a:srgbClr val="F5F7FA"/>
                </a:solidFill>
                <a:latin typeface="Segoe UI"/>
              </a:rPr>
              <a:t>Reports, sample data, docs &amp; PDF guide</a:t>
            </a:r>
          </a:p>
        </p:txBody>
      </p:sp>
      <p:sp>
        <p:nvSpPr>
          <p:cNvPr id="12" name="Rectangle 11"/>
          <p:cNvSpPr/>
          <p:nvPr/>
        </p:nvSpPr>
        <p:spPr>
          <a:xfrm>
            <a:off x="4288536" y="1325880"/>
            <a:ext cx="3611880" cy="4069080"/>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88536" y="1325880"/>
            <a:ext cx="3611880" cy="82296"/>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7136" y="1499616"/>
            <a:ext cx="3154680" cy="365760"/>
          </a:xfrm>
          <a:prstGeom prst="rect">
            <a:avLst/>
          </a:prstGeom>
          <a:noFill/>
        </p:spPr>
        <p:txBody>
          <a:bodyPr wrap="square" anchor="t" lIns="0" rIns="0" tIns="0" bIns="0">
            <a:spAutoFit/>
          </a:bodyPr>
          <a:lstStyle/>
          <a:p>
            <a:pPr algn="l"/>
            <a:r>
              <a:rPr sz="1400" b="1">
                <a:solidFill>
                  <a:srgbClr val="3EB8F0"/>
                </a:solidFill>
                <a:latin typeface="Segoe UI"/>
              </a:rPr>
              <a:t>LIMITATIONS</a:t>
            </a:r>
          </a:p>
        </p:txBody>
      </p:sp>
      <p:sp>
        <p:nvSpPr>
          <p:cNvPr id="15" name="TextBox 14"/>
          <p:cNvSpPr txBox="1"/>
          <p:nvPr/>
        </p:nvSpPr>
        <p:spPr>
          <a:xfrm>
            <a:off x="4517136" y="1956816"/>
            <a:ext cx="3154680" cy="3291840"/>
          </a:xfrm>
          <a:prstGeom prst="rect">
            <a:avLst/>
          </a:prstGeom>
          <a:noFill/>
        </p:spPr>
        <p:txBody>
          <a:bodyPr wrap="square" lIns="0" rIns="0" tIns="0" bIns="0">
            <a:spAutoFit/>
          </a:bodyPr>
          <a:lstStyle/>
          <a:p>
            <a:pPr algn="l">
              <a:spcAft>
                <a:spcPts val="900"/>
              </a:spcAft>
            </a:pPr>
            <a:r>
              <a:rPr sz="1150">
                <a:solidFill>
                  <a:srgbClr val="3EB8F0"/>
                </a:solidFill>
                <a:latin typeface="Segoe UI"/>
              </a:rPr>
              <a:t>•  </a:t>
            </a:r>
            <a:r>
              <a:rPr sz="1150">
                <a:solidFill>
                  <a:srgbClr val="F5F7FA"/>
                </a:solidFill>
                <a:latin typeface="Segoe UI"/>
              </a:rPr>
              <a:t>Classical ciphers are inherently insecure</a:t>
            </a:r>
          </a:p>
          <a:p>
            <a:pPr algn="l">
              <a:spcAft>
                <a:spcPts val="900"/>
              </a:spcAft>
            </a:pPr>
            <a:r>
              <a:rPr sz="1150">
                <a:solidFill>
                  <a:srgbClr val="3EB8F0"/>
                </a:solidFill>
                <a:latin typeface="Segoe UI"/>
              </a:rPr>
              <a:t>•  </a:t>
            </a:r>
            <a:r>
              <a:rPr sz="1150">
                <a:solidFill>
                  <a:srgbClr val="F5F7FA"/>
                </a:solidFill>
                <a:latin typeface="Segoe UI"/>
              </a:rPr>
              <a:t>Statistical attacks need enough text</a:t>
            </a:r>
          </a:p>
          <a:p>
            <a:pPr algn="l">
              <a:spcAft>
                <a:spcPts val="900"/>
              </a:spcAft>
            </a:pPr>
            <a:r>
              <a:rPr sz="1150">
                <a:solidFill>
                  <a:srgbClr val="3EB8F0"/>
                </a:solidFill>
                <a:latin typeface="Segoe UI"/>
              </a:rPr>
              <a:t>•  </a:t>
            </a:r>
            <a:r>
              <a:rPr sz="1150">
                <a:solidFill>
                  <a:srgbClr val="F5F7FA"/>
                </a:solidFill>
                <a:latin typeface="Segoe UI"/>
              </a:rPr>
              <a:t>Scoring heuristics are English-only</a:t>
            </a:r>
          </a:p>
          <a:p>
            <a:pPr algn="l">
              <a:spcAft>
                <a:spcPts val="900"/>
              </a:spcAft>
            </a:pPr>
            <a:r>
              <a:rPr sz="1150">
                <a:solidFill>
                  <a:srgbClr val="3EB8F0"/>
                </a:solidFill>
                <a:latin typeface="Segoe UI"/>
              </a:rPr>
              <a:t>•  </a:t>
            </a:r>
            <a:r>
              <a:rPr sz="1150">
                <a:solidFill>
                  <a:srgbClr val="F5F7FA"/>
                </a:solidFill>
                <a:latin typeface="Segoe UI"/>
              </a:rPr>
              <a:t>CLI only — no GUI</a:t>
            </a:r>
          </a:p>
        </p:txBody>
      </p:sp>
      <p:sp>
        <p:nvSpPr>
          <p:cNvPr id="16" name="Rectangle 15"/>
          <p:cNvSpPr/>
          <p:nvPr/>
        </p:nvSpPr>
        <p:spPr>
          <a:xfrm>
            <a:off x="8074152" y="1325880"/>
            <a:ext cx="3611880" cy="4069080"/>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4152" y="1325880"/>
            <a:ext cx="3611880" cy="82296"/>
          </a:xfrm>
          <a:prstGeom prst="rect">
            <a:avLst/>
          </a:prstGeom>
          <a:solidFill>
            <a:srgbClr val="9A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1499616"/>
            <a:ext cx="3154680" cy="365760"/>
          </a:xfrm>
          <a:prstGeom prst="rect">
            <a:avLst/>
          </a:prstGeom>
          <a:noFill/>
        </p:spPr>
        <p:txBody>
          <a:bodyPr wrap="square" anchor="t" lIns="0" rIns="0" tIns="0" bIns="0">
            <a:spAutoFit/>
          </a:bodyPr>
          <a:lstStyle/>
          <a:p>
            <a:pPr algn="l"/>
            <a:r>
              <a:rPr sz="1400" b="1">
                <a:solidFill>
                  <a:srgbClr val="9AB4CC"/>
                </a:solidFill>
                <a:latin typeface="Segoe UI"/>
              </a:rPr>
              <a:t>FUTURE WORK</a:t>
            </a:r>
          </a:p>
        </p:txBody>
      </p:sp>
      <p:sp>
        <p:nvSpPr>
          <p:cNvPr id="19" name="TextBox 18"/>
          <p:cNvSpPr txBox="1"/>
          <p:nvPr/>
        </p:nvSpPr>
        <p:spPr>
          <a:xfrm>
            <a:off x="8302752" y="1956816"/>
            <a:ext cx="3154680" cy="3291840"/>
          </a:xfrm>
          <a:prstGeom prst="rect">
            <a:avLst/>
          </a:prstGeom>
          <a:noFill/>
        </p:spPr>
        <p:txBody>
          <a:bodyPr wrap="square" lIns="0" rIns="0" tIns="0" bIns="0">
            <a:spAutoFit/>
          </a:bodyPr>
          <a:lstStyle/>
          <a:p>
            <a:pPr algn="l">
              <a:spcAft>
                <a:spcPts val="900"/>
              </a:spcAft>
            </a:pPr>
            <a:r>
              <a:rPr sz="1150">
                <a:solidFill>
                  <a:srgbClr val="3EB8F0"/>
                </a:solidFill>
                <a:latin typeface="Segoe UI"/>
              </a:rPr>
              <a:t>•  </a:t>
            </a:r>
            <a:r>
              <a:rPr sz="1150">
                <a:solidFill>
                  <a:srgbClr val="F5F7FA"/>
                </a:solidFill>
                <a:latin typeface="Segoe UI"/>
              </a:rPr>
              <a:t>GUI or web front-end</a:t>
            </a:r>
          </a:p>
          <a:p>
            <a:pPr algn="l">
              <a:spcAft>
                <a:spcPts val="900"/>
              </a:spcAft>
            </a:pPr>
            <a:r>
              <a:rPr sz="1150">
                <a:solidFill>
                  <a:srgbClr val="3EB8F0"/>
                </a:solidFill>
                <a:latin typeface="Segoe UI"/>
              </a:rPr>
              <a:t>•  </a:t>
            </a:r>
            <a:r>
              <a:rPr sz="1150">
                <a:solidFill>
                  <a:srgbClr val="F5F7FA"/>
                </a:solidFill>
                <a:latin typeface="Segoe UI"/>
              </a:rPr>
              <a:t>More ciphers: substitution, transposition, XOR</a:t>
            </a:r>
          </a:p>
          <a:p>
            <a:pPr algn="l">
              <a:spcAft>
                <a:spcPts val="900"/>
              </a:spcAft>
            </a:pPr>
            <a:r>
              <a:rPr sz="1150">
                <a:solidFill>
                  <a:srgbClr val="3EB8F0"/>
                </a:solidFill>
                <a:latin typeface="Segoe UI"/>
              </a:rPr>
              <a:t>•  </a:t>
            </a:r>
            <a:r>
              <a:rPr sz="1150">
                <a:solidFill>
                  <a:srgbClr val="F5F7FA"/>
                </a:solidFill>
                <a:latin typeface="Segoe UI"/>
              </a:rPr>
              <a:t>Multilingual frequency tables</a:t>
            </a:r>
          </a:p>
          <a:p>
            <a:pPr algn="l">
              <a:spcAft>
                <a:spcPts val="900"/>
              </a:spcAft>
            </a:pPr>
            <a:r>
              <a:rPr sz="1150">
                <a:solidFill>
                  <a:srgbClr val="3EB8F0"/>
                </a:solidFill>
                <a:latin typeface="Segoe UI"/>
              </a:rPr>
              <a:t>•  </a:t>
            </a:r>
            <a:r>
              <a:rPr sz="1150">
                <a:solidFill>
                  <a:srgbClr val="F5F7FA"/>
                </a:solidFill>
                <a:latin typeface="Segoe UI"/>
              </a:rPr>
              <a:t>Simulated known-plaintext attack demos</a:t>
            </a:r>
          </a:p>
        </p:txBody>
      </p:sp>
      <p:sp>
        <p:nvSpPr>
          <p:cNvPr id="20" name="Rectangle 19"/>
          <p:cNvSpPr/>
          <p:nvPr/>
        </p:nvSpPr>
        <p:spPr>
          <a:xfrm>
            <a:off x="502920" y="5623560"/>
            <a:ext cx="11155680" cy="658368"/>
          </a:xfrm>
          <a:prstGeom prst="rect">
            <a:avLst/>
          </a:prstGeom>
          <a:solidFill>
            <a:srgbClr val="12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779008"/>
            <a:ext cx="10789920" cy="365760"/>
          </a:xfrm>
          <a:prstGeom prst="rect">
            <a:avLst/>
          </a:prstGeom>
          <a:noFill/>
        </p:spPr>
        <p:txBody>
          <a:bodyPr wrap="square" anchor="t" lIns="0" rIns="0" tIns="0" bIns="0">
            <a:spAutoFit/>
          </a:bodyPr>
          <a:lstStyle/>
          <a:p>
            <a:pPr algn="l"/>
            <a:r>
              <a:rPr sz="1300" b="1">
                <a:solidFill>
                  <a:srgbClr val="F5F7FA"/>
                </a:solidFill>
                <a:latin typeface="Segoe UI"/>
              </a:rPr>
              <a:t>Understanding why classical ciphers fail is the first step towards understanding why modern encryption works.</a:t>
            </a:r>
          </a:p>
        </p:txBody>
      </p:sp>
      <p:sp>
        <p:nvSpPr>
          <p:cNvPr id="22" name="TextBox 21"/>
          <p:cNvSpPr txBox="1"/>
          <p:nvPr/>
        </p:nvSpPr>
        <p:spPr>
          <a:xfrm>
            <a:off x="502920" y="6492240"/>
            <a:ext cx="10515600" cy="274320"/>
          </a:xfrm>
          <a:prstGeom prst="rect">
            <a:avLst/>
          </a:prstGeom>
          <a:noFill/>
        </p:spPr>
        <p:txBody>
          <a:bodyPr wrap="square" anchor="t" lIns="0" rIns="0" tIns="0" bIns="0">
            <a:spAutoFit/>
          </a:bodyPr>
          <a:lstStyle/>
          <a:p>
            <a:pPr algn="l"/>
            <a:r>
              <a:rPr sz="900" b="0">
                <a:solidFill>
                  <a:srgbClr val="9AB4CC"/>
                </a:solidFill>
                <a:latin typeface="Segoe UI"/>
              </a:rPr>
              <a:t>Educational use only — never protect real data with classical ciphers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6803136"/>
            <a:ext cx="3044952" cy="38100"/>
          </a:xfrm>
          <a:prstGeom prst="rect">
            <a:avLst/>
          </a:prstGeom>
          <a:solidFill>
            <a:srgbClr val="1E8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923" y="6803136"/>
            <a:ext cx="3044952" cy="38100"/>
          </a:xfrm>
          <a:prstGeom prst="rect">
            <a:avLst/>
          </a:prstGeom>
          <a:solidFill>
            <a:srgbClr val="1E8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6803136"/>
            <a:ext cx="3044952" cy="38100"/>
          </a:xfrm>
          <a:prstGeom prst="rect">
            <a:avLst/>
          </a:prstGeom>
          <a:solidFill>
            <a:srgbClr val="1E8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771" y="6803136"/>
            <a:ext cx="3044952" cy="38100"/>
          </a:xfrm>
          <a:prstGeom prst="rect">
            <a:avLst/>
          </a:prstGeom>
          <a:solidFill>
            <a:srgbClr val="1E8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011680"/>
            <a:ext cx="128016" cy="2926080"/>
          </a:xfrm>
          <a:prstGeom prst="rect">
            <a:avLst/>
          </a:prstGeom>
          <a:solidFill>
            <a:srgbClr val="3EB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103120"/>
            <a:ext cx="10058400" cy="1554480"/>
          </a:xfrm>
          <a:prstGeom prst="rect">
            <a:avLst/>
          </a:prstGeom>
          <a:noFill/>
        </p:spPr>
        <p:txBody>
          <a:bodyPr wrap="square" anchor="t" lIns="0" rIns="0" tIns="0" bIns="0">
            <a:spAutoFit/>
          </a:bodyPr>
          <a:lstStyle/>
          <a:p>
            <a:pPr algn="l"/>
            <a:r>
              <a:rPr sz="4600" b="1">
                <a:solidFill>
                  <a:srgbClr val="F5F7FA"/>
                </a:solidFill>
                <a:latin typeface="Segoe UI"/>
              </a:rPr>
              <a:t>Thank You</a:t>
            </a:r>
          </a:p>
          <a:p>
            <a:pPr algn="l">
              <a:spcBef>
                <a:spcPts val="800"/>
              </a:spcBef>
            </a:pPr>
            <a:r>
              <a:rPr sz="2000" b="0">
                <a:solidFill>
                  <a:srgbClr val="3EB8F0"/>
                </a:solidFill>
                <a:latin typeface="Segoe UI"/>
              </a:rPr>
              <a:t>Questions &amp; Live Demo</a:t>
            </a:r>
          </a:p>
        </p:txBody>
      </p:sp>
      <p:sp>
        <p:nvSpPr>
          <p:cNvPr id="8" name="TextBox 7"/>
          <p:cNvSpPr txBox="1"/>
          <p:nvPr/>
        </p:nvSpPr>
        <p:spPr>
          <a:xfrm>
            <a:off x="1143000" y="4023360"/>
            <a:ext cx="10424160" cy="1188720"/>
          </a:xfrm>
          <a:prstGeom prst="rect">
            <a:avLst/>
          </a:prstGeom>
          <a:noFill/>
        </p:spPr>
        <p:txBody>
          <a:bodyPr wrap="square" anchor="t" lIns="0" rIns="0" tIns="0" bIns="0">
            <a:spAutoFit/>
          </a:bodyPr>
          <a:lstStyle/>
          <a:p>
            <a:pPr algn="l"/>
            <a:r>
              <a:rPr sz="1500" b="1">
                <a:solidFill>
                  <a:srgbClr val="39D353"/>
                </a:solidFill>
                <a:latin typeface="Consolas"/>
              </a:rPr>
              <a:t>python main.py          # interactive menu</a:t>
            </a:r>
          </a:p>
          <a:p>
            <a:pPr algn="l">
              <a:spcBef>
                <a:spcPts val="400"/>
              </a:spcBef>
            </a:pPr>
            <a:r>
              <a:rPr sz="1300" b="0">
                <a:solidFill>
                  <a:srgbClr val="9AB4CC"/>
                </a:solidFill>
                <a:latin typeface="Consolas"/>
              </a:rPr>
              <a:t>python main.py crack-caesar --input sample_data/caesar_sample.txt</a:t>
            </a:r>
          </a:p>
          <a:p>
            <a:pPr algn="l">
              <a:spcBef>
                <a:spcPts val="200"/>
              </a:spcBef>
            </a:pPr>
            <a:r>
              <a:rPr sz="1300" b="0">
                <a:solidFill>
                  <a:srgbClr val="9AB4CC"/>
                </a:solidFill>
                <a:latin typeface="Consolas"/>
              </a:rPr>
              <a:t>python main.py analyze-vigenere --input sample_data/vigenere_sample.txt</a:t>
            </a:r>
          </a:p>
        </p:txBody>
      </p:sp>
      <p:sp>
        <p:nvSpPr>
          <p:cNvPr id="9" name="TextBox 8"/>
          <p:cNvSpPr txBox="1"/>
          <p:nvPr/>
        </p:nvSpPr>
        <p:spPr>
          <a:xfrm>
            <a:off x="1143000" y="5852160"/>
            <a:ext cx="10058400" cy="365760"/>
          </a:xfrm>
          <a:prstGeom prst="rect">
            <a:avLst/>
          </a:prstGeom>
          <a:noFill/>
        </p:spPr>
        <p:txBody>
          <a:bodyPr wrap="square" anchor="t" lIns="0" rIns="0" tIns="0" bIns="0">
            <a:spAutoFit/>
          </a:bodyPr>
          <a:lstStyle/>
          <a:p>
            <a:pPr algn="l"/>
            <a:r>
              <a:rPr sz="1200" b="0">
                <a:solidFill>
                  <a:srgbClr val="9AB4CC"/>
                </a:solidFill>
                <a:latin typeface="Segoe UI"/>
              </a:rPr>
              <a:t>163 tests · 9 commands · 2 ciphers · 4 attacks · 100% passing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Cryptographic Cipher Analyzer</dc:title>
  <dc:subject>Caesar &amp; Vigenere Cryptanalysis Tool</dc:subject>
  <dc:creator>Crypto Cipher Analyzer Project</dc:creator>
  <cp:keywords/>
  <dc:description>20 slides; speaker notes sized for a 7-10+ minute talk</dc:description>
  <cp:lastModifiedBy>Steve Canny</cp:lastModifiedBy>
  <cp:revision>1</cp:revision>
  <dcterms:created xsi:type="dcterms:W3CDTF">2013-01-27T09:14:16Z</dcterms:created>
  <dcterms:modified xsi:type="dcterms:W3CDTF">2013-01-27T09:15:58Z</dcterms:modified>
  <cp:category/>
</cp:coreProperties>
</file>